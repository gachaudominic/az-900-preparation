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Default Extension="fntdata" ContentType="application/x-fontdata"/>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embeddedFontLst>
    <p:embeddedFont>
      <p:font typeface="Barlow" panose="00000500000000000000" pitchFamily="34" charset="0"/>
      <p:regular r:id="rId20"/>
      <p:bold r:id="rId21"/>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 Id="rId20" Type="http://schemas.openxmlformats.org/officeDocument/2006/relationships/font" Target="fonts/font1.fntdata"/><Relationship Id="rId21"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BF7F9"/>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558800"/>
          </a:xfrm>
          <a:prstGeom prst="rect">
            <a:avLst/>
          </a:prstGeom>
          <a:noFill/>
          <a:ln/>
        </p:spPr>
        <p:txBody>
          <a:bodyPr wrap="square" lIns="0" tIns="0" rIns="0" bIns="0" rtlCol="0" anchor="t"/>
          <a:lstStyle>
            <a:lvl1pPr algn="l" indent="0" marL="0">
              <a:lnSpc>
                <a:spcPct val="115000"/>
              </a:lnSpc>
              <a:buNone/>
              <a:defRPr lang="en-US" sz="4000" dirty="0">
                <a:solidFill>
                  <a:srgbClr val="0A7F87"/>
                </a:solidFill>
                <a:latin typeface="Barlow" pitchFamily="34" charset="0"/>
                <a:ea typeface="Barlow" pitchFamily="34" charset="-122"/>
                <a:cs typeface="Barlow" pitchFamily="34" charset="-120"/>
              </a:defRPr>
            </a:lvl1pPr>
          </a:lstStyle>
          <a:p>
            <a:pPr algn="l" indent="0" marL="0">
              <a:lnSpc>
                <a:spcPct val="115000"/>
              </a:lnSpc>
              <a:buNone/>
            </a:pPr>
            <a:endParaRPr lang="en-US" sz="4000" dirty="0"/>
          </a:p>
        </p:txBody>
      </p:sp>
      <p:sp>
        <p:nvSpPr>
          <p:cNvPr id="3" name="Text Placeholder 2"/>
          <p:cNvSpPr/>
          <p:nvPr>
            <p:ph idx="101" type="body"/>
          </p:nvPr>
        </p:nvSpPr>
        <p:spPr>
          <a:xfrm>
            <a:off x="812800" y="1676400"/>
            <a:ext cx="10566400" cy="4368800"/>
          </a:xfrm>
          <a:prstGeom prst="rect">
            <a:avLst/>
          </a:prstGeom>
          <a:noFill/>
          <a:ln/>
        </p:spPr>
        <p:txBody>
          <a:bodyPr wrap="square" lIns="0" tIns="0" rIns="0" bIns="0" rtlCol="0" anchor="t"/>
          <a:lstStyle>
            <a:lvl1pPr algn="l" indent="0" marL="0">
              <a:lnSpc>
                <a:spcPct val="140000"/>
              </a:lnSpc>
              <a:buNone/>
              <a:defRPr lang="en-US" sz="1600" dirty="0">
                <a:solidFill>
                  <a:srgbClr val="1B1B1F"/>
                </a:solidFill>
                <a:latin typeface="Barlow" pitchFamily="34" charset="0"/>
                <a:ea typeface="Barlow" pitchFamily="34" charset="-122"/>
                <a:cs typeface="Barlow"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BF7F9"/>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558800"/>
          </a:xfrm>
          <a:prstGeom prst="rect">
            <a:avLst/>
          </a:prstGeom>
          <a:noFill/>
          <a:ln/>
        </p:spPr>
        <p:txBody>
          <a:bodyPr wrap="square" lIns="0" tIns="0" rIns="0" bIns="0" rtlCol="0" anchor="t"/>
          <a:lstStyle>
            <a:lvl1pPr algn="l" indent="0" marL="0">
              <a:lnSpc>
                <a:spcPct val="115000"/>
              </a:lnSpc>
              <a:buNone/>
              <a:defRPr lang="en-US" sz="4000" dirty="0">
                <a:solidFill>
                  <a:srgbClr val="0A7F87"/>
                </a:solidFill>
                <a:latin typeface="Barlow" pitchFamily="34" charset="0"/>
                <a:ea typeface="Barlow" pitchFamily="34" charset="-122"/>
                <a:cs typeface="Barlow" pitchFamily="34" charset="-120"/>
              </a:defRPr>
            </a:lvl1pPr>
          </a:lstStyle>
          <a:p>
            <a:pPr algn="l" indent="0" marL="0">
              <a:lnSpc>
                <a:spcPct val="115000"/>
              </a:lnSpc>
              <a:buNone/>
            </a:pPr>
            <a:endParaRPr lang="en-US" sz="4000" dirty="0"/>
          </a:p>
        </p:txBody>
      </p:sp>
      <p:sp>
        <p:nvSpPr>
          <p:cNvPr id="3" name="Text Placeholder 2"/>
          <p:cNvSpPr/>
          <p:nvPr>
            <p:ph idx="101" type="body"/>
          </p:nvPr>
        </p:nvSpPr>
        <p:spPr>
          <a:xfrm>
            <a:off x="812800" y="1676400"/>
            <a:ext cx="10566400" cy="4368800"/>
          </a:xfrm>
          <a:prstGeom prst="rect">
            <a:avLst/>
          </a:prstGeom>
          <a:noFill/>
          <a:ln/>
        </p:spPr>
        <p:txBody>
          <a:bodyPr wrap="square" lIns="0" tIns="0" rIns="0" bIns="0" rtlCol="0" anchor="t"/>
          <a:lstStyle>
            <a:lvl1pPr algn="l" indent="0" marL="0">
              <a:lnSpc>
                <a:spcPct val="140000"/>
              </a:lnSpc>
              <a:buNone/>
              <a:defRPr lang="en-US" sz="1600" dirty="0">
                <a:solidFill>
                  <a:srgbClr val="1B1B1F"/>
                </a:solidFill>
                <a:latin typeface="Barlow" pitchFamily="34" charset="0"/>
                <a:ea typeface="Barlow" pitchFamily="34" charset="-122"/>
                <a:cs typeface="Barlow"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BF7F9"/>
        </a:solidFill>
      </p:bgPr>
    </p:bg>
    <p:spTree>
      <p:nvGrpSpPr>
        <p:cNvPr id="1" name=""/>
        <p:cNvGrpSpPr/>
        <p:nvPr/>
      </p:nvGrpSpPr>
      <p:grpSpPr>
        <a:xfrm>
          <a:off x="0" y="0"/>
          <a:ext cx="0" cy="0"/>
          <a:chOff x="0" y="0"/>
          <a:chExt cx="0" cy="0"/>
        </a:xfrm>
      </p:grpSpPr>
      <p:sp>
        <p:nvSpPr>
          <p:cNvPr id="2" name="Shape 0"/>
          <p:cNvSpPr/>
          <p:nvPr/>
        </p:nvSpPr>
        <p:spPr>
          <a:xfrm>
            <a:off x="8128000" y="0"/>
            <a:ext cx="4064000" cy="6858000"/>
          </a:xfrm>
          <a:prstGeom prst="rect">
            <a:avLst/>
          </a:prstGeom>
          <a:solidFill>
            <a:srgbClr val="0A7F87"/>
          </a:solidFill>
          <a:ln/>
        </p:spPr>
      </p:sp>
      <p:sp>
        <p:nvSpPr>
          <p:cNvPr id="3" name="Shape 1"/>
          <p:cNvSpPr/>
          <p:nvPr/>
        </p:nvSpPr>
        <p:spPr>
          <a:xfrm>
            <a:off x="8128000" y="5588000"/>
            <a:ext cx="4064000" cy="1270000"/>
          </a:xfrm>
          <a:prstGeom prst="rect">
            <a:avLst/>
          </a:prstGeom>
          <a:solidFill>
            <a:srgbClr val="8D103D"/>
          </a:solidFill>
          <a:ln/>
        </p:spPr>
      </p:sp>
      <p:sp>
        <p:nvSpPr>
          <p:cNvPr id="4" name="Text 2"/>
          <p:cNvSpPr/>
          <p:nvPr>
            <p:ph type="title"/>
          </p:nvPr>
        </p:nvSpPr>
        <p:spPr>
          <a:xfrm>
            <a:off x="812800" y="812800"/>
            <a:ext cx="7315200" cy="878780"/>
          </a:xfrm>
          <a:prstGeom prst="rect">
            <a:avLst/>
          </a:prstGeom>
          <a:noFill/>
          <a:ln/>
        </p:spPr>
        <p:txBody>
          <a:bodyPr wrap="square" lIns="0" tIns="0" rIns="0" bIns="0" rtlCol="0" anchor="t">
            <a:normAutofit/>
          </a:bodyPr>
          <a:lstStyle/>
          <a:p>
            <a:pPr algn="l" indent="0" marL="0">
              <a:lnSpc>
                <a:spcPts val="6720"/>
              </a:lnSpc>
              <a:buNone/>
            </a:pPr>
            <a:r>
              <a:rPr lang="en-US" sz="6400" b="1" i="0" dirty="0">
                <a:solidFill>
                  <a:srgbClr val="1B1B1F"/>
                </a:solidFill>
                <a:latin typeface="Barlow" pitchFamily="34" charset="0"/>
                <a:ea typeface="Barlow" pitchFamily="34" charset="-122"/>
                <a:cs typeface="Barlow" pitchFamily="34" charset="-120"/>
              </a:rPr>
              <a:t>AZ-900 Academy</a:t>
            </a:r>
            <a:endParaRPr lang="en-US" sz="6400" dirty="0"/>
          </a:p>
        </p:txBody>
      </p:sp>
      <p:sp>
        <p:nvSpPr>
          <p:cNvPr id="5" name="Text 3"/>
          <p:cNvSpPr/>
          <p:nvPr/>
        </p:nvSpPr>
        <p:spPr>
          <a:xfrm>
            <a:off x="812800" y="1970980"/>
            <a:ext cx="6540500" cy="817761"/>
          </a:xfrm>
          <a:prstGeom prst="rect">
            <a:avLst/>
          </a:prstGeom>
          <a:noFill/>
          <a:ln/>
        </p:spPr>
        <p:txBody>
          <a:bodyPr wrap="square" lIns="0" tIns="0" rIns="0" bIns="0" rtlCol="0" anchor="t">
            <a:normAutofit/>
          </a:bodyPr>
          <a:lstStyle/>
          <a:p>
            <a:pPr algn="l" indent="0" marL="0">
              <a:lnSpc>
                <a:spcPts val="3120"/>
              </a:lnSpc>
              <a:buNone/>
            </a:pPr>
            <a:r>
              <a:rPr lang="en-US" sz="2400" b="1" dirty="0">
                <a:solidFill>
                  <a:srgbClr val="0A7F87"/>
                </a:solidFill>
                <a:latin typeface="Barlow" pitchFamily="34" charset="0"/>
                <a:ea typeface="Barlow" pitchFamily="34" charset="-122"/>
                <a:cs typeface="Barlow" pitchFamily="34" charset="-120"/>
              </a:rPr>
              <a:t>Smart Quiz Builder: a study site that explains why every answer is right or wrong</a:t>
            </a:r>
            <a:endParaRPr lang="en-US" sz="2400" dirty="0"/>
          </a:p>
        </p:txBody>
      </p:sp>
      <p:sp>
        <p:nvSpPr>
          <p:cNvPr id="6" name="Text 4"/>
          <p:cNvSpPr/>
          <p:nvPr/>
        </p:nvSpPr>
        <p:spPr>
          <a:xfrm>
            <a:off x="8534400" y="812800"/>
            <a:ext cx="3348736" cy="619720"/>
          </a:xfrm>
          <a:prstGeom prst="rect">
            <a:avLst/>
          </a:prstGeom>
          <a:noFill/>
          <a:ln/>
        </p:spPr>
        <p:txBody>
          <a:bodyPr wrap="square" lIns="0" tIns="0" rIns="0" bIns="0" rtlCol="0" anchor="t">
            <a:normAutofit/>
          </a:bodyPr>
          <a:lstStyle/>
          <a:p>
            <a:pPr algn="l" indent="0" marL="0">
              <a:lnSpc>
                <a:spcPts val="2340"/>
              </a:lnSpc>
              <a:buNone/>
            </a:pPr>
            <a:r>
              <a:rPr lang="en-US" sz="1800" dirty="0">
                <a:solidFill>
                  <a:srgbClr val="FFFFFF"/>
                </a:solidFill>
                <a:latin typeface="Barlow" pitchFamily="34" charset="0"/>
                <a:ea typeface="Barlow" pitchFamily="34" charset="-122"/>
                <a:cs typeface="Barlow" pitchFamily="34" charset="-120"/>
              </a:rPr>
              <a:t>Practice &amp; Assessment</a:t>
            </a:r>
            <a:endParaRPr lang="en-US" sz="1800" dirty="0"/>
          </a:p>
          <a:p>
            <a:pPr algn="l" indent="0" marL="0">
              <a:lnSpc>
                <a:spcPts val="2340"/>
              </a:lnSpc>
              <a:buNone/>
            </a:pPr>
            <a:r>
              <a:rPr lang="en-US" sz="1800" dirty="0">
                <a:solidFill>
                  <a:srgbClr val="FFFFFF"/>
                </a:solidFill>
                <a:latin typeface="Barlow" pitchFamily="34" charset="0"/>
                <a:ea typeface="Barlow" pitchFamily="34" charset="-122"/>
                <a:cs typeface="Barlow" pitchFamily="34" charset="-120"/>
              </a:rPr>
              <a:t>Microsoft Azure Fundamentals</a:t>
            </a:r>
            <a:endParaRPr lang="en-US" sz="1800" dirty="0"/>
          </a:p>
        </p:txBody>
      </p:sp>
      <p:sp>
        <p:nvSpPr>
          <p:cNvPr id="7" name="Text 5"/>
          <p:cNvSpPr/>
          <p:nvPr/>
        </p:nvSpPr>
        <p:spPr>
          <a:xfrm>
            <a:off x="8534400" y="6116340"/>
            <a:ext cx="3348736"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FFFFF"/>
                </a:solidFill>
                <a:latin typeface="Barlow" pitchFamily="34" charset="0"/>
                <a:ea typeface="Barlow" pitchFamily="34" charset="-122"/>
                <a:cs typeface="Barlow" pitchFamily="34" charset="-120"/>
              </a:rPr>
              <a:t>Built by Dominic Maina Gachau</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7F9"/>
        </a:solidFill>
      </p:bgPr>
    </p:bg>
    <p:spTree>
      <p:nvGrpSpPr>
        <p:cNvPr id="1" name=""/>
        <p:cNvGrpSpPr/>
        <p:nvPr/>
      </p:nvGrpSpPr>
      <p:grpSpPr>
        <a:xfrm>
          <a:off x="0" y="0"/>
          <a:ext cx="0" cy="0"/>
          <a:chOff x="0" y="0"/>
          <a:chExt cx="0" cy="0"/>
        </a:xfrm>
      </p:grpSpPr>
      <p:sp>
        <p:nvSpPr>
          <p:cNvPr id="2" name="Shape 0"/>
          <p:cNvSpPr/>
          <p:nvPr/>
        </p:nvSpPr>
        <p:spPr>
          <a:xfrm>
            <a:off x="0" y="0"/>
            <a:ext cx="254000" cy="6858000"/>
          </a:xfrm>
          <a:prstGeom prst="rect">
            <a:avLst/>
          </a:prstGeom>
          <a:solidFill>
            <a:srgbClr val="8D103D"/>
          </a:solidFill>
          <a:ln/>
        </p:spPr>
      </p:sp>
      <p:sp>
        <p:nvSpPr>
          <p:cNvPr id="3" name="Text 1"/>
          <p:cNvSpPr/>
          <p:nvPr>
            <p:ph type="title"/>
          </p:nvPr>
        </p:nvSpPr>
        <p:spPr>
          <a:xfrm>
            <a:off x="812800" y="812800"/>
            <a:ext cx="10883392" cy="584200"/>
          </a:xfrm>
          <a:prstGeom prst="rect">
            <a:avLst/>
          </a:prstGeom>
          <a:noFill/>
          <a:ln/>
        </p:spPr>
        <p:txBody>
          <a:bodyPr wrap="square" lIns="0" tIns="0" rIns="0" bIns="0" rtlCol="0" anchor="t">
            <a:normAutofit/>
          </a:bodyPr>
          <a:lstStyle/>
          <a:p>
            <a:pPr algn="l" indent="0" marL="0">
              <a:lnSpc>
                <a:spcPts val="4400"/>
              </a:lnSpc>
              <a:buNone/>
            </a:pPr>
            <a:r>
              <a:rPr lang="en-US" sz="4000" b="1" i="0" dirty="0">
                <a:solidFill>
                  <a:srgbClr val="0A7F87"/>
                </a:solidFill>
                <a:latin typeface="Barlow" pitchFamily="34" charset="0"/>
                <a:ea typeface="Barlow" pitchFamily="34" charset="-122"/>
                <a:cs typeface="Barlow" pitchFamily="34" charset="-120"/>
              </a:rPr>
              <a:t>Practice without understanding</a:t>
            </a:r>
            <a:endParaRPr lang="en-US" sz="4000" dirty="0"/>
          </a:p>
        </p:txBody>
      </p:sp>
      <p:sp>
        <p:nvSpPr>
          <p:cNvPr id="4" name="Text 2"/>
          <p:cNvSpPr/>
          <p:nvPr/>
        </p:nvSpPr>
        <p:spPr>
          <a:xfrm>
            <a:off x="812800" y="1676400"/>
            <a:ext cx="10883392" cy="916781"/>
          </a:xfrm>
          <a:prstGeom prst="rect">
            <a:avLst/>
          </a:prstGeom>
          <a:noFill/>
          <a:ln/>
        </p:spPr>
        <p:txBody>
          <a:bodyPr wrap="square" lIns="0" tIns="0" rIns="0" bIns="0" rtlCol="0" anchor="t">
            <a:normAutofit/>
          </a:bodyPr>
          <a:lstStyle/>
          <a:p>
            <a:pPr algn="l" indent="0" marL="0">
              <a:lnSpc>
                <a:spcPts val="3510"/>
              </a:lnSpc>
              <a:buNone/>
            </a:pPr>
            <a:r>
              <a:rPr lang="en-US" sz="2600" dirty="0">
                <a:solidFill>
                  <a:srgbClr val="1B1B1F"/>
                </a:solidFill>
                <a:latin typeface="Barlow" pitchFamily="34" charset="0"/>
                <a:ea typeface="Barlow" pitchFamily="34" charset="-122"/>
                <a:cs typeface="Barlow" pitchFamily="34" charset="-120"/>
              </a:rPr>
              <a:t>Many AZ-900 learners practise with questions but never learn why an answer is right or wrong.</a:t>
            </a:r>
            <a:endParaRPr lang="en-US" sz="2600" dirty="0"/>
          </a:p>
        </p:txBody>
      </p:sp>
      <p:sp>
        <p:nvSpPr>
          <p:cNvPr id="5" name="Text 3"/>
          <p:cNvSpPr/>
          <p:nvPr/>
        </p:nvSpPr>
        <p:spPr>
          <a:xfrm>
            <a:off x="812800" y="2872581"/>
            <a:ext cx="11379200" cy="368300"/>
          </a:xfrm>
          <a:prstGeom prst="rect">
            <a:avLst/>
          </a:prstGeom>
          <a:noFill/>
          <a:ln/>
        </p:spPr>
        <p:txBody>
          <a:bodyPr wrap="square" lIns="0" tIns="0" rIns="0" bIns="0" rtlCol="0" anchor="t">
            <a:normAutofit/>
          </a:bodyPr>
          <a:lstStyle/>
          <a:p>
            <a:pPr algn="l" indent="0" marL="0">
              <a:lnSpc>
                <a:spcPts val="2700"/>
              </a:lnSpc>
              <a:buNone/>
            </a:pPr>
            <a:r>
              <a:rPr lang="en-US" sz="2000" dirty="0">
                <a:solidFill>
                  <a:srgbClr val="4D4D57"/>
                </a:solidFill>
                <a:latin typeface="Barlow" pitchFamily="34" charset="0"/>
                <a:ea typeface="Barlow" pitchFamily="34" charset="-122"/>
                <a:cs typeface="Barlow" pitchFamily="34" charset="-120"/>
              </a:rPr>
              <a:t>A score shows what was missed, not why, so the same mistakes are easy to repeat on exam day.</a:t>
            </a:r>
            <a:endParaRPr lang="en-US"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BF7F9"/>
        </a:solidFill>
      </p:bgPr>
    </p:bg>
    <p:spTree>
      <p:nvGrpSpPr>
        <p:cNvPr id="1" name=""/>
        <p:cNvGrpSpPr/>
        <p:nvPr/>
      </p:nvGrpSpPr>
      <p:grpSpPr>
        <a:xfrm>
          <a:off x="0" y="0"/>
          <a:ext cx="0" cy="0"/>
          <a:chOff x="0" y="0"/>
          <a:chExt cx="0" cy="0"/>
        </a:xfrm>
      </p:grpSpPr>
      <p:sp>
        <p:nvSpPr>
          <p:cNvPr id="2" name="Shape 0"/>
          <p:cNvSpPr/>
          <p:nvPr/>
        </p:nvSpPr>
        <p:spPr>
          <a:xfrm>
            <a:off x="0" y="0"/>
            <a:ext cx="254000" cy="6858000"/>
          </a:xfrm>
          <a:prstGeom prst="rect">
            <a:avLst/>
          </a:prstGeom>
          <a:solidFill>
            <a:srgbClr val="8D103D"/>
          </a:solidFill>
          <a:ln/>
        </p:spPr>
      </p:sp>
      <p:sp>
        <p:nvSpPr>
          <p:cNvPr id="3" name="Text 1"/>
          <p:cNvSpPr/>
          <p:nvPr>
            <p:ph type="title"/>
          </p:nvPr>
        </p:nvSpPr>
        <p:spPr>
          <a:xfrm>
            <a:off x="812800" y="812800"/>
            <a:ext cx="10883392" cy="584200"/>
          </a:xfrm>
          <a:prstGeom prst="rect">
            <a:avLst/>
          </a:prstGeom>
          <a:noFill/>
          <a:ln/>
        </p:spPr>
        <p:txBody>
          <a:bodyPr wrap="square" lIns="0" tIns="0" rIns="0" bIns="0" rtlCol="0" anchor="t">
            <a:normAutofit/>
          </a:bodyPr>
          <a:lstStyle/>
          <a:p>
            <a:pPr algn="l" indent="0" marL="0">
              <a:lnSpc>
                <a:spcPts val="4400"/>
              </a:lnSpc>
              <a:buNone/>
            </a:pPr>
            <a:r>
              <a:rPr lang="en-US" sz="4000" b="1" i="0" dirty="0">
                <a:solidFill>
                  <a:srgbClr val="0A7F87"/>
                </a:solidFill>
                <a:latin typeface="Barlow" pitchFamily="34" charset="0"/>
                <a:ea typeface="Barlow" pitchFamily="34" charset="-122"/>
                <a:cs typeface="Barlow" pitchFamily="34" charset="-120"/>
              </a:rPr>
              <a:t>Notes, quizzes and explanations in one place</a:t>
            </a:r>
            <a:endParaRPr lang="en-US" sz="4000" dirty="0"/>
          </a:p>
        </p:txBody>
      </p:sp>
      <p:sp>
        <p:nvSpPr>
          <p:cNvPr id="4" name="Text 2"/>
          <p:cNvSpPr/>
          <p:nvPr/>
        </p:nvSpPr>
        <p:spPr>
          <a:xfrm>
            <a:off x="842010" y="1676400"/>
            <a:ext cx="10846562" cy="1803400"/>
          </a:xfrm>
          <a:prstGeom prst="rect">
            <a:avLst/>
          </a:prstGeom>
          <a:noFill/>
          <a:ln/>
        </p:spPr>
        <p:txBody>
          <a:bodyPr wrap="square" lIns="0" tIns="0" rIns="0" bIns="0" rtlCol="0" anchor="t">
            <a:normAutofit/>
          </a:bodyPr>
          <a:lstStyle/>
          <a:p>
            <a:pPr algn="l" marL="224790" indent="-224790">
              <a:lnSpc>
                <a:spcPts val="2800"/>
              </a:lnSpc>
              <a:buSzPct val="100000"/>
              <a:buChar char="•"/>
            </a:pPr>
            <a:r>
              <a:rPr lang="en-US" sz="2000" dirty="0">
                <a:solidFill>
                  <a:srgbClr val="1B1B1F"/>
                </a:solidFill>
                <a:latin typeface="Barlow" pitchFamily="34" charset="0"/>
                <a:ea typeface="Barlow" pitchFamily="34" charset="-122"/>
                <a:cs typeface="Barlow" pitchFamily="34" charset="-120"/>
              </a:rPr>
              <a:t>Plain-English course notes for each AZ-900 module</a:t>
            </a:r>
            <a:endParaRPr lang="en-US" sz="2000" dirty="0"/>
          </a:p>
          <a:p>
            <a:pPr algn="l" marL="224790" indent="-224790">
              <a:lnSpc>
                <a:spcPts val="2800"/>
              </a:lnSpc>
              <a:buSzPct val="100000"/>
              <a:buChar char="•"/>
            </a:pPr>
            <a:r>
              <a:rPr lang="en-US" sz="2000" dirty="0">
                <a:solidFill>
                  <a:srgbClr val="1B1B1F"/>
                </a:solidFill>
                <a:latin typeface="Barlow" pitchFamily="34" charset="0"/>
                <a:ea typeface="Barlow" pitchFamily="34" charset="-122"/>
                <a:cs typeface="Barlow" pitchFamily="34" charset="-120"/>
              </a:rPr>
              <a:t>Instant feedback after every answer</a:t>
            </a:r>
            <a:endParaRPr lang="en-US" sz="2000" dirty="0"/>
          </a:p>
          <a:p>
            <a:pPr algn="l" marL="224790" indent="-224790">
              <a:lnSpc>
                <a:spcPts val="2800"/>
              </a:lnSpc>
              <a:buSzPct val="100000"/>
              <a:buChar char="•"/>
            </a:pPr>
            <a:r>
              <a:rPr lang="en-US" sz="2000" dirty="0">
                <a:solidFill>
                  <a:srgbClr val="1B1B1F"/>
                </a:solidFill>
                <a:latin typeface="Barlow" pitchFamily="34" charset="0"/>
                <a:ea typeface="Barlow" pitchFamily="34" charset="-122"/>
                <a:cs typeface="Barlow" pitchFamily="34" charset="-120"/>
              </a:rPr>
              <a:t>An explanation of the right answer and of every wrong option, with a Microsoft Learn link</a:t>
            </a:r>
            <a:endParaRPr lang="en-US" sz="2000" dirty="0"/>
          </a:p>
          <a:p>
            <a:pPr algn="l" marL="224790" indent="-224790">
              <a:lnSpc>
                <a:spcPts val="2800"/>
              </a:lnSpc>
              <a:buSzPct val="100000"/>
              <a:buChar char="•"/>
            </a:pPr>
            <a:r>
              <a:rPr lang="en-US" sz="2000" dirty="0">
                <a:solidFill>
                  <a:srgbClr val="1B1B1F"/>
                </a:solidFill>
                <a:latin typeface="Barlow" pitchFamily="34" charset="0"/>
                <a:ea typeface="Barlow" pitchFamily="34" charset="-122"/>
                <a:cs typeface="Barlow" pitchFamily="34" charset="-120"/>
              </a:rPr>
              <a:t>A score for each exam objective that shows what to revisit</a:t>
            </a:r>
            <a:endParaRPr lang="en-US" sz="2000" dirty="0"/>
          </a:p>
          <a:p>
            <a:pPr algn="l" marL="224790" indent="-224790">
              <a:lnSpc>
                <a:spcPts val="2800"/>
              </a:lnSpc>
              <a:buSzPct val="100000"/>
              <a:buChar char="•"/>
            </a:pPr>
            <a:r>
              <a:rPr lang="en-US" sz="2000" dirty="0">
                <a:solidFill>
                  <a:srgbClr val="1B1B1F"/>
                </a:solidFill>
                <a:latin typeface="Barlow" pitchFamily="34" charset="0"/>
                <a:ea typeface="Barlow" pitchFamily="34" charset="-122"/>
                <a:cs typeface="Barlow" pitchFamily="34" charset="-120"/>
              </a:rPr>
              <a:t>A timed exam simulation to practise under pressure</a:t>
            </a:r>
            <a:endParaRPr lang="en-US" sz="2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BF7F9"/>
        </a:solidFill>
      </p:bgPr>
    </p:bg>
    <p:spTree>
      <p:nvGrpSpPr>
        <p:cNvPr id="1" name=""/>
        <p:cNvGrpSpPr/>
        <p:nvPr/>
      </p:nvGrpSpPr>
      <p:grpSpPr>
        <a:xfrm>
          <a:off x="0" y="0"/>
          <a:ext cx="0" cy="0"/>
          <a:chOff x="0" y="0"/>
          <a:chExt cx="0" cy="0"/>
        </a:xfrm>
      </p:grpSpPr>
      <p:sp>
        <p:nvSpPr>
          <p:cNvPr id="2" name="Shape 0"/>
          <p:cNvSpPr/>
          <p:nvPr/>
        </p:nvSpPr>
        <p:spPr>
          <a:xfrm>
            <a:off x="0" y="0"/>
            <a:ext cx="254000" cy="6858000"/>
          </a:xfrm>
          <a:prstGeom prst="rect">
            <a:avLst/>
          </a:prstGeom>
          <a:solidFill>
            <a:srgbClr val="8D103D"/>
          </a:solidFill>
          <a:ln/>
        </p:spPr>
      </p:sp>
      <p:sp>
        <p:nvSpPr>
          <p:cNvPr id="3" name="Text 1"/>
          <p:cNvSpPr/>
          <p:nvPr>
            <p:ph type="title"/>
          </p:nvPr>
        </p:nvSpPr>
        <p:spPr>
          <a:xfrm>
            <a:off x="812800" y="812800"/>
            <a:ext cx="10883392" cy="584200"/>
          </a:xfrm>
          <a:prstGeom prst="rect">
            <a:avLst/>
          </a:prstGeom>
          <a:noFill/>
          <a:ln/>
        </p:spPr>
        <p:txBody>
          <a:bodyPr wrap="square" lIns="0" tIns="0" rIns="0" bIns="0" rtlCol="0" anchor="t">
            <a:normAutofit/>
          </a:bodyPr>
          <a:lstStyle/>
          <a:p>
            <a:pPr algn="l" indent="0" marL="0">
              <a:lnSpc>
                <a:spcPts val="4400"/>
              </a:lnSpc>
              <a:buNone/>
            </a:pPr>
            <a:r>
              <a:rPr lang="en-US" sz="4000" b="1" i="0" dirty="0">
                <a:solidFill>
                  <a:srgbClr val="0A7F87"/>
                </a:solidFill>
                <a:latin typeface="Barlow" pitchFamily="34" charset="0"/>
                <a:ea typeface="Barlow" pitchFamily="34" charset="-122"/>
                <a:cs typeface="Barlow" pitchFamily="34" charset="-120"/>
              </a:rPr>
              <a:t>What learners get</a:t>
            </a:r>
            <a:endParaRPr lang="en-US" sz="4000" dirty="0"/>
          </a:p>
        </p:txBody>
      </p:sp>
      <p:sp>
        <p:nvSpPr>
          <p:cNvPr id="4" name="Shape 2"/>
          <p:cNvSpPr/>
          <p:nvPr/>
        </p:nvSpPr>
        <p:spPr>
          <a:xfrm>
            <a:off x="812800" y="1676400"/>
            <a:ext cx="3386634" cy="1749425"/>
          </a:xfrm>
          <a:prstGeom prst="rect">
            <a:avLst/>
          </a:prstGeom>
          <a:solidFill>
            <a:srgbClr val="FFFFFF"/>
          </a:solidFill>
          <a:ln/>
        </p:spPr>
      </p:sp>
      <p:sp>
        <p:nvSpPr>
          <p:cNvPr id="5" name="Shape 3"/>
          <p:cNvSpPr/>
          <p:nvPr/>
        </p:nvSpPr>
        <p:spPr>
          <a:xfrm>
            <a:off x="812800" y="1708150"/>
            <a:ext cx="3386634" cy="0"/>
          </a:xfrm>
          <a:prstGeom prst="line">
            <a:avLst/>
          </a:prstGeom>
          <a:noFill/>
          <a:ln w="63500">
            <a:solidFill>
              <a:srgbClr val="0A7F87"/>
            </a:solidFill>
            <a:prstDash val="solid"/>
          </a:ln>
        </p:spPr>
      </p:sp>
      <p:sp>
        <p:nvSpPr>
          <p:cNvPr id="6" name="Text 4"/>
          <p:cNvSpPr/>
          <p:nvPr/>
        </p:nvSpPr>
        <p:spPr>
          <a:xfrm>
            <a:off x="1066800" y="1993900"/>
            <a:ext cx="2964993"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B1B1F"/>
                </a:solidFill>
                <a:latin typeface="Barlow" pitchFamily="34" charset="0"/>
                <a:ea typeface="Barlow" pitchFamily="34" charset="-122"/>
                <a:cs typeface="Barlow" pitchFamily="34" charset="-120"/>
              </a:rPr>
              <a:t>Practice mode</a:t>
            </a:r>
            <a:endParaRPr lang="en-US" sz="2000" dirty="0"/>
          </a:p>
        </p:txBody>
      </p:sp>
      <p:sp>
        <p:nvSpPr>
          <p:cNvPr id="7" name="Text 5"/>
          <p:cNvSpPr/>
          <p:nvPr/>
        </p:nvSpPr>
        <p:spPr>
          <a:xfrm>
            <a:off x="1066800" y="2400300"/>
            <a:ext cx="2964993"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4D4D57"/>
                </a:solidFill>
                <a:latin typeface="Barlow" pitchFamily="34" charset="0"/>
                <a:ea typeface="Barlow" pitchFamily="34" charset="-122"/>
                <a:cs typeface="Barlow" pitchFamily="34" charset="-120"/>
              </a:rPr>
              <a:t>Check each answer and read why it is right or wrong.</a:t>
            </a:r>
            <a:endParaRPr lang="en-US" sz="1500" dirty="0"/>
          </a:p>
        </p:txBody>
      </p:sp>
      <p:sp>
        <p:nvSpPr>
          <p:cNvPr id="8" name="Shape 6"/>
          <p:cNvSpPr/>
          <p:nvPr/>
        </p:nvSpPr>
        <p:spPr>
          <a:xfrm>
            <a:off x="4402634" y="1676400"/>
            <a:ext cx="3386733" cy="1749425"/>
          </a:xfrm>
          <a:prstGeom prst="rect">
            <a:avLst/>
          </a:prstGeom>
          <a:solidFill>
            <a:srgbClr val="FFFFFF"/>
          </a:solidFill>
          <a:ln/>
        </p:spPr>
      </p:sp>
      <p:sp>
        <p:nvSpPr>
          <p:cNvPr id="9" name="Shape 7"/>
          <p:cNvSpPr/>
          <p:nvPr/>
        </p:nvSpPr>
        <p:spPr>
          <a:xfrm>
            <a:off x="4402634" y="1708150"/>
            <a:ext cx="3386733" cy="0"/>
          </a:xfrm>
          <a:prstGeom prst="line">
            <a:avLst/>
          </a:prstGeom>
          <a:noFill/>
          <a:ln w="63500">
            <a:solidFill>
              <a:srgbClr val="8D103D"/>
            </a:solidFill>
            <a:prstDash val="solid"/>
          </a:ln>
        </p:spPr>
      </p:sp>
      <p:sp>
        <p:nvSpPr>
          <p:cNvPr id="10" name="Text 8"/>
          <p:cNvSpPr/>
          <p:nvPr/>
        </p:nvSpPr>
        <p:spPr>
          <a:xfrm>
            <a:off x="4656634" y="1993900"/>
            <a:ext cx="2965095"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B1B1F"/>
                </a:solidFill>
                <a:latin typeface="Barlow" pitchFamily="34" charset="0"/>
                <a:ea typeface="Barlow" pitchFamily="34" charset="-122"/>
                <a:cs typeface="Barlow" pitchFamily="34" charset="-120"/>
              </a:rPr>
              <a:t>Results by objective</a:t>
            </a:r>
            <a:endParaRPr lang="en-US" sz="2000" dirty="0"/>
          </a:p>
        </p:txBody>
      </p:sp>
      <p:sp>
        <p:nvSpPr>
          <p:cNvPr id="11" name="Text 9"/>
          <p:cNvSpPr/>
          <p:nvPr/>
        </p:nvSpPr>
        <p:spPr>
          <a:xfrm>
            <a:off x="4656634" y="2400300"/>
            <a:ext cx="2965095"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4D4D57"/>
                </a:solidFill>
                <a:latin typeface="Barlow" pitchFamily="34" charset="0"/>
                <a:ea typeface="Barlow" pitchFamily="34" charset="-122"/>
                <a:cs typeface="Barlow" pitchFamily="34" charset="-120"/>
              </a:rPr>
              <a:t>See weak objectives and which modules to revisit.</a:t>
            </a:r>
            <a:endParaRPr lang="en-US" sz="1500" dirty="0"/>
          </a:p>
        </p:txBody>
      </p:sp>
      <p:sp>
        <p:nvSpPr>
          <p:cNvPr id="12" name="Shape 10"/>
          <p:cNvSpPr/>
          <p:nvPr/>
        </p:nvSpPr>
        <p:spPr>
          <a:xfrm>
            <a:off x="7992566" y="1676400"/>
            <a:ext cx="3386634" cy="1749425"/>
          </a:xfrm>
          <a:prstGeom prst="rect">
            <a:avLst/>
          </a:prstGeom>
          <a:solidFill>
            <a:srgbClr val="FFFFFF"/>
          </a:solidFill>
          <a:ln/>
        </p:spPr>
      </p:sp>
      <p:sp>
        <p:nvSpPr>
          <p:cNvPr id="13" name="Shape 11"/>
          <p:cNvSpPr/>
          <p:nvPr/>
        </p:nvSpPr>
        <p:spPr>
          <a:xfrm>
            <a:off x="7992566" y="1708150"/>
            <a:ext cx="3386634" cy="0"/>
          </a:xfrm>
          <a:prstGeom prst="line">
            <a:avLst/>
          </a:prstGeom>
          <a:noFill/>
          <a:ln w="63500">
            <a:solidFill>
              <a:srgbClr val="0A7F87"/>
            </a:solidFill>
            <a:prstDash val="solid"/>
          </a:ln>
        </p:spPr>
      </p:sp>
      <p:sp>
        <p:nvSpPr>
          <p:cNvPr id="14" name="Text 12"/>
          <p:cNvSpPr/>
          <p:nvPr/>
        </p:nvSpPr>
        <p:spPr>
          <a:xfrm>
            <a:off x="8246566" y="1993900"/>
            <a:ext cx="2964993"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B1B1F"/>
                </a:solidFill>
                <a:latin typeface="Barlow" pitchFamily="34" charset="0"/>
                <a:ea typeface="Barlow" pitchFamily="34" charset="-122"/>
                <a:cs typeface="Barlow" pitchFamily="34" charset="-120"/>
              </a:rPr>
              <a:t>Exam simulation</a:t>
            </a:r>
            <a:endParaRPr lang="en-US" sz="2000" dirty="0"/>
          </a:p>
        </p:txBody>
      </p:sp>
      <p:sp>
        <p:nvSpPr>
          <p:cNvPr id="15" name="Text 13"/>
          <p:cNvSpPr/>
          <p:nvPr/>
        </p:nvSpPr>
        <p:spPr>
          <a:xfrm>
            <a:off x="8246566" y="2400300"/>
            <a:ext cx="2964993" cy="79692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4D4D57"/>
                </a:solidFill>
                <a:latin typeface="Barlow" pitchFamily="34" charset="0"/>
                <a:ea typeface="Barlow" pitchFamily="34" charset="-122"/>
                <a:cs typeface="Barlow" pitchFamily="34" charset="-120"/>
              </a:rPr>
              <a:t>Timed mixed quiz with a 70% practice pass mark; answers shown at the end.</a:t>
            </a:r>
            <a:endParaRPr lang="en-US" sz="1500" dirty="0"/>
          </a:p>
        </p:txBody>
      </p:sp>
      <p:sp>
        <p:nvSpPr>
          <p:cNvPr id="16" name="Text 14"/>
          <p:cNvSpPr/>
          <p:nvPr/>
        </p:nvSpPr>
        <p:spPr>
          <a:xfrm>
            <a:off x="812800" y="3730625"/>
            <a:ext cx="10883392" cy="299641"/>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4D4D57"/>
                </a:solidFill>
                <a:latin typeface="Barlow" pitchFamily="34" charset="0"/>
                <a:ea typeface="Barlow" pitchFamily="34" charset="-122"/>
                <a:cs typeface="Barlow" pitchFamily="34" charset="-120"/>
              </a:rPr>
              <a:t>Built with Python and Flask. Free, no login, light enough for phones and limited data.</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BF7F9"/>
        </a:solidFill>
      </p:bgPr>
    </p:bg>
    <p:spTree>
      <p:nvGrpSpPr>
        <p:cNvPr id="1" name=""/>
        <p:cNvGrpSpPr/>
        <p:nvPr/>
      </p:nvGrpSpPr>
      <p:grpSpPr>
        <a:xfrm>
          <a:off x="0" y="0"/>
          <a:ext cx="0" cy="0"/>
          <a:chOff x="0" y="0"/>
          <a:chExt cx="0" cy="0"/>
        </a:xfrm>
      </p:grpSpPr>
      <p:sp>
        <p:nvSpPr>
          <p:cNvPr id="2" name="Shape 0"/>
          <p:cNvSpPr/>
          <p:nvPr/>
        </p:nvSpPr>
        <p:spPr>
          <a:xfrm>
            <a:off x="0" y="0"/>
            <a:ext cx="254000" cy="6858000"/>
          </a:xfrm>
          <a:prstGeom prst="rect">
            <a:avLst/>
          </a:prstGeom>
          <a:solidFill>
            <a:srgbClr val="8D103D"/>
          </a:solidFill>
          <a:ln/>
        </p:spPr>
      </p:sp>
      <p:sp>
        <p:nvSpPr>
          <p:cNvPr id="3" name="Text 1"/>
          <p:cNvSpPr/>
          <p:nvPr>
            <p:ph type="title"/>
          </p:nvPr>
        </p:nvSpPr>
        <p:spPr>
          <a:xfrm>
            <a:off x="812800" y="812800"/>
            <a:ext cx="10883392" cy="584200"/>
          </a:xfrm>
          <a:prstGeom prst="rect">
            <a:avLst/>
          </a:prstGeom>
          <a:noFill/>
          <a:ln/>
        </p:spPr>
        <p:txBody>
          <a:bodyPr wrap="square" lIns="0" tIns="0" rIns="0" bIns="0" rtlCol="0" anchor="t">
            <a:normAutofit/>
          </a:bodyPr>
          <a:lstStyle/>
          <a:p>
            <a:pPr algn="l" indent="0" marL="0">
              <a:lnSpc>
                <a:spcPts val="4400"/>
              </a:lnSpc>
              <a:buNone/>
            </a:pPr>
            <a:r>
              <a:rPr lang="en-US" sz="4000" b="1" i="0" dirty="0">
                <a:solidFill>
                  <a:srgbClr val="0A7F87"/>
                </a:solidFill>
                <a:latin typeface="Barlow" pitchFamily="34" charset="0"/>
                <a:ea typeface="Barlow" pitchFamily="34" charset="-122"/>
                <a:cs typeface="Barlow" pitchFamily="34" charset="-120"/>
              </a:rPr>
              <a:t>Who it is for</a:t>
            </a:r>
            <a:endParaRPr lang="en-US" sz="4000" dirty="0"/>
          </a:p>
        </p:txBody>
      </p:sp>
      <p:sp>
        <p:nvSpPr>
          <p:cNvPr id="4" name="Shape 2"/>
          <p:cNvSpPr/>
          <p:nvPr/>
        </p:nvSpPr>
        <p:spPr>
          <a:xfrm>
            <a:off x="844550" y="1676400"/>
            <a:ext cx="0" cy="799405"/>
          </a:xfrm>
          <a:prstGeom prst="line">
            <a:avLst/>
          </a:prstGeom>
          <a:noFill/>
          <a:ln w="63500">
            <a:solidFill>
              <a:srgbClr val="0A7F87"/>
            </a:solidFill>
            <a:prstDash val="solid"/>
          </a:ln>
        </p:spPr>
      </p:sp>
      <p:sp>
        <p:nvSpPr>
          <p:cNvPr id="5" name="Text 3"/>
          <p:cNvSpPr/>
          <p:nvPr/>
        </p:nvSpPr>
        <p:spPr>
          <a:xfrm>
            <a:off x="1079500" y="1676400"/>
            <a:ext cx="10608691" cy="482600"/>
          </a:xfrm>
          <a:prstGeom prst="rect">
            <a:avLst/>
          </a:prstGeom>
          <a:noFill/>
          <a:ln/>
        </p:spPr>
        <p:txBody>
          <a:bodyPr wrap="square" lIns="0" tIns="0" rIns="0" bIns="0" rtlCol="0" anchor="t">
            <a:normAutofit/>
          </a:bodyPr>
          <a:lstStyle/>
          <a:p>
            <a:pPr algn="l" indent="0" marL="0">
              <a:lnSpc>
                <a:spcPts val="3600"/>
              </a:lnSpc>
              <a:buNone/>
            </a:pPr>
            <a:r>
              <a:rPr lang="en-US" sz="3000" b="1" dirty="0">
                <a:solidFill>
                  <a:srgbClr val="1B1B1F"/>
                </a:solidFill>
                <a:latin typeface="Barlow" pitchFamily="34" charset="0"/>
                <a:ea typeface="Barlow" pitchFamily="34" charset="-122"/>
                <a:cs typeface="Barlow" pitchFamily="34" charset="-120"/>
              </a:rPr>
              <a:t>Beginners</a:t>
            </a:r>
            <a:endParaRPr lang="en-US" sz="3000" dirty="0"/>
          </a:p>
        </p:txBody>
      </p:sp>
      <p:sp>
        <p:nvSpPr>
          <p:cNvPr id="6" name="Text 4"/>
          <p:cNvSpPr/>
          <p:nvPr/>
        </p:nvSpPr>
        <p:spPr>
          <a:xfrm>
            <a:off x="1079500" y="2184400"/>
            <a:ext cx="10608691" cy="316805"/>
          </a:xfrm>
          <a:prstGeom prst="rect">
            <a:avLst/>
          </a:prstGeom>
          <a:noFill/>
          <a:ln/>
        </p:spPr>
        <p:txBody>
          <a:bodyPr wrap="square" lIns="0" tIns="0" rIns="0" bIns="0" rtlCol="0" anchor="t">
            <a:normAutofit/>
          </a:bodyPr>
          <a:lstStyle/>
          <a:p>
            <a:pPr algn="l" indent="0" marL="0">
              <a:lnSpc>
                <a:spcPts val="2295"/>
              </a:lnSpc>
              <a:buNone/>
            </a:pPr>
            <a:r>
              <a:rPr lang="en-US" sz="1700" dirty="0">
                <a:solidFill>
                  <a:srgbClr val="4D4D57"/>
                </a:solidFill>
                <a:latin typeface="Barlow" pitchFamily="34" charset="0"/>
                <a:ea typeface="Barlow" pitchFamily="34" charset="-122"/>
                <a:cs typeface="Barlow" pitchFamily="34" charset="-120"/>
              </a:rPr>
              <a:t>People new to cloud and Azure who are preparing for AZ-900.</a:t>
            </a:r>
            <a:endParaRPr lang="en-US" sz="1700" dirty="0"/>
          </a:p>
        </p:txBody>
      </p:sp>
      <p:sp>
        <p:nvSpPr>
          <p:cNvPr id="7" name="Shape 5"/>
          <p:cNvSpPr/>
          <p:nvPr/>
        </p:nvSpPr>
        <p:spPr>
          <a:xfrm>
            <a:off x="844550" y="2780605"/>
            <a:ext cx="0" cy="799405"/>
          </a:xfrm>
          <a:prstGeom prst="line">
            <a:avLst/>
          </a:prstGeom>
          <a:noFill/>
          <a:ln w="63500">
            <a:solidFill>
              <a:srgbClr val="8D103D"/>
            </a:solidFill>
            <a:prstDash val="solid"/>
          </a:ln>
        </p:spPr>
      </p:sp>
      <p:sp>
        <p:nvSpPr>
          <p:cNvPr id="8" name="Text 6"/>
          <p:cNvSpPr/>
          <p:nvPr/>
        </p:nvSpPr>
        <p:spPr>
          <a:xfrm>
            <a:off x="1079500" y="2780605"/>
            <a:ext cx="10608691" cy="482600"/>
          </a:xfrm>
          <a:prstGeom prst="rect">
            <a:avLst/>
          </a:prstGeom>
          <a:noFill/>
          <a:ln/>
        </p:spPr>
        <p:txBody>
          <a:bodyPr wrap="square" lIns="0" tIns="0" rIns="0" bIns="0" rtlCol="0" anchor="t">
            <a:normAutofit/>
          </a:bodyPr>
          <a:lstStyle/>
          <a:p>
            <a:pPr algn="l" indent="0" marL="0">
              <a:lnSpc>
                <a:spcPts val="3600"/>
              </a:lnSpc>
              <a:buNone/>
            </a:pPr>
            <a:r>
              <a:rPr lang="en-US" sz="3000" b="1" dirty="0">
                <a:solidFill>
                  <a:srgbClr val="1B1B1F"/>
                </a:solidFill>
                <a:latin typeface="Barlow" pitchFamily="34" charset="0"/>
                <a:ea typeface="Barlow" pitchFamily="34" charset="-122"/>
                <a:cs typeface="Barlow" pitchFamily="34" charset="-120"/>
              </a:rPr>
              <a:t>Career changers and students</a:t>
            </a:r>
            <a:endParaRPr lang="en-US" sz="3000" dirty="0"/>
          </a:p>
        </p:txBody>
      </p:sp>
      <p:sp>
        <p:nvSpPr>
          <p:cNvPr id="9" name="Text 7"/>
          <p:cNvSpPr/>
          <p:nvPr/>
        </p:nvSpPr>
        <p:spPr>
          <a:xfrm>
            <a:off x="1079500" y="3288605"/>
            <a:ext cx="10608691" cy="316805"/>
          </a:xfrm>
          <a:prstGeom prst="rect">
            <a:avLst/>
          </a:prstGeom>
          <a:noFill/>
          <a:ln/>
        </p:spPr>
        <p:txBody>
          <a:bodyPr wrap="square" lIns="0" tIns="0" rIns="0" bIns="0" rtlCol="0" anchor="t">
            <a:normAutofit/>
          </a:bodyPr>
          <a:lstStyle/>
          <a:p>
            <a:pPr algn="l" indent="0" marL="0">
              <a:lnSpc>
                <a:spcPts val="2295"/>
              </a:lnSpc>
              <a:buNone/>
            </a:pPr>
            <a:r>
              <a:rPr lang="en-US" sz="1700" dirty="0">
                <a:solidFill>
                  <a:srgbClr val="4D4D57"/>
                </a:solidFill>
                <a:latin typeface="Barlow" pitchFamily="34" charset="0"/>
                <a:ea typeface="Barlow" pitchFamily="34" charset="-122"/>
                <a:cs typeface="Barlow" pitchFamily="34" charset="-120"/>
              </a:rPr>
              <a:t>ICT learners who want a clear route to a recognised credential.</a:t>
            </a:r>
            <a:endParaRPr lang="en-US" sz="1700" dirty="0"/>
          </a:p>
        </p:txBody>
      </p:sp>
      <p:sp>
        <p:nvSpPr>
          <p:cNvPr id="10" name="Shape 8"/>
          <p:cNvSpPr/>
          <p:nvPr/>
        </p:nvSpPr>
        <p:spPr>
          <a:xfrm>
            <a:off x="844550" y="3884811"/>
            <a:ext cx="0" cy="799405"/>
          </a:xfrm>
          <a:prstGeom prst="line">
            <a:avLst/>
          </a:prstGeom>
          <a:noFill/>
          <a:ln w="63500">
            <a:solidFill>
              <a:srgbClr val="0A7F87"/>
            </a:solidFill>
            <a:prstDash val="solid"/>
          </a:ln>
        </p:spPr>
      </p:sp>
      <p:sp>
        <p:nvSpPr>
          <p:cNvPr id="11" name="Text 9"/>
          <p:cNvSpPr/>
          <p:nvPr/>
        </p:nvSpPr>
        <p:spPr>
          <a:xfrm>
            <a:off x="1079500" y="3884811"/>
            <a:ext cx="10608691" cy="482600"/>
          </a:xfrm>
          <a:prstGeom prst="rect">
            <a:avLst/>
          </a:prstGeom>
          <a:noFill/>
          <a:ln/>
        </p:spPr>
        <p:txBody>
          <a:bodyPr wrap="square" lIns="0" tIns="0" rIns="0" bIns="0" rtlCol="0" anchor="t">
            <a:normAutofit/>
          </a:bodyPr>
          <a:lstStyle/>
          <a:p>
            <a:pPr algn="l" indent="0" marL="0">
              <a:lnSpc>
                <a:spcPts val="3600"/>
              </a:lnSpc>
              <a:buNone/>
            </a:pPr>
            <a:r>
              <a:rPr lang="en-US" sz="3000" b="1" dirty="0">
                <a:solidFill>
                  <a:srgbClr val="1B1B1F"/>
                </a:solidFill>
                <a:latin typeface="Barlow" pitchFamily="34" charset="0"/>
                <a:ea typeface="Barlow" pitchFamily="34" charset="-122"/>
                <a:cs typeface="Barlow" pitchFamily="34" charset="-120"/>
              </a:rPr>
              <a:t>Learners with limited data</a:t>
            </a:r>
            <a:endParaRPr lang="en-US" sz="3000" dirty="0"/>
          </a:p>
        </p:txBody>
      </p:sp>
      <p:sp>
        <p:nvSpPr>
          <p:cNvPr id="12" name="Text 10"/>
          <p:cNvSpPr/>
          <p:nvPr/>
        </p:nvSpPr>
        <p:spPr>
          <a:xfrm>
            <a:off x="1079500" y="4392811"/>
            <a:ext cx="10608691" cy="316805"/>
          </a:xfrm>
          <a:prstGeom prst="rect">
            <a:avLst/>
          </a:prstGeom>
          <a:noFill/>
          <a:ln/>
        </p:spPr>
        <p:txBody>
          <a:bodyPr wrap="square" lIns="0" tIns="0" rIns="0" bIns="0" rtlCol="0" anchor="t">
            <a:normAutofit/>
          </a:bodyPr>
          <a:lstStyle/>
          <a:p>
            <a:pPr algn="l" indent="0" marL="0">
              <a:lnSpc>
                <a:spcPts val="2295"/>
              </a:lnSpc>
              <a:buNone/>
            </a:pPr>
            <a:r>
              <a:rPr lang="en-US" sz="1700" dirty="0">
                <a:solidFill>
                  <a:srgbClr val="4D4D57"/>
                </a:solidFill>
                <a:latin typeface="Barlow" pitchFamily="34" charset="0"/>
                <a:ea typeface="Barlow" pitchFamily="34" charset="-122"/>
                <a:cs typeface="Barlow" pitchFamily="34" charset="-120"/>
              </a:rPr>
              <a:t>Pages that stay light and work well on a phone.</a:t>
            </a:r>
            <a:endParaRPr lang="en-US" sz="1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BF7F9"/>
        </a:solidFill>
      </p:bgPr>
    </p:bg>
    <p:spTree>
      <p:nvGrpSpPr>
        <p:cNvPr id="1" name=""/>
        <p:cNvGrpSpPr/>
        <p:nvPr/>
      </p:nvGrpSpPr>
      <p:grpSpPr>
        <a:xfrm>
          <a:off x="0" y="0"/>
          <a:ext cx="0" cy="0"/>
          <a:chOff x="0" y="0"/>
          <a:chExt cx="0" cy="0"/>
        </a:xfrm>
      </p:grpSpPr>
      <p:sp>
        <p:nvSpPr>
          <p:cNvPr id="2" name="Shape 0"/>
          <p:cNvSpPr/>
          <p:nvPr/>
        </p:nvSpPr>
        <p:spPr>
          <a:xfrm>
            <a:off x="0" y="0"/>
            <a:ext cx="254000" cy="6858000"/>
          </a:xfrm>
          <a:prstGeom prst="rect">
            <a:avLst/>
          </a:prstGeom>
          <a:solidFill>
            <a:srgbClr val="8D103D"/>
          </a:solidFill>
          <a:ln/>
        </p:spPr>
      </p:sp>
      <p:sp>
        <p:nvSpPr>
          <p:cNvPr id="3" name="Text 1"/>
          <p:cNvSpPr/>
          <p:nvPr>
            <p:ph type="title"/>
          </p:nvPr>
        </p:nvSpPr>
        <p:spPr>
          <a:xfrm>
            <a:off x="812800" y="812800"/>
            <a:ext cx="10883392" cy="1143000"/>
          </a:xfrm>
          <a:prstGeom prst="rect">
            <a:avLst/>
          </a:prstGeom>
          <a:noFill/>
          <a:ln/>
        </p:spPr>
        <p:txBody>
          <a:bodyPr wrap="square" lIns="0" tIns="0" rIns="0" bIns="0" rtlCol="0" anchor="t">
            <a:normAutofit/>
          </a:bodyPr>
          <a:lstStyle/>
          <a:p>
            <a:pPr algn="l" indent="0" marL="0">
              <a:lnSpc>
                <a:spcPts val="4400"/>
              </a:lnSpc>
              <a:buNone/>
            </a:pPr>
            <a:r>
              <a:rPr lang="en-US" sz="4000" b="1" i="0" dirty="0">
                <a:solidFill>
                  <a:srgbClr val="0A7F87"/>
                </a:solidFill>
                <a:latin typeface="Barlow" pitchFamily="34" charset="0"/>
                <a:ea typeface="Barlow" pitchFamily="34" charset="-122"/>
                <a:cs typeface="Barlow" pitchFamily="34" charset="-120"/>
              </a:rPr>
              <a:t>Course coverage: 13 modules in three skill areas</a:t>
            </a:r>
            <a:endParaRPr lang="en-US" sz="4000" dirty="0"/>
          </a:p>
        </p:txBody>
      </p:sp>
      <p:sp>
        <p:nvSpPr>
          <p:cNvPr id="4" name="Shape 2"/>
          <p:cNvSpPr/>
          <p:nvPr/>
        </p:nvSpPr>
        <p:spPr>
          <a:xfrm>
            <a:off x="812800" y="2235200"/>
            <a:ext cx="2540000" cy="1524000"/>
          </a:xfrm>
          <a:prstGeom prst="rect">
            <a:avLst/>
          </a:prstGeom>
          <a:solidFill>
            <a:srgbClr val="0A7F87"/>
          </a:solidFill>
          <a:ln/>
        </p:spPr>
      </p:sp>
      <p:sp>
        <p:nvSpPr>
          <p:cNvPr id="5" name="Text 3"/>
          <p:cNvSpPr/>
          <p:nvPr/>
        </p:nvSpPr>
        <p:spPr>
          <a:xfrm>
            <a:off x="1016000" y="2438400"/>
            <a:ext cx="2197608" cy="594320"/>
          </a:xfrm>
          <a:prstGeom prst="rect">
            <a:avLst/>
          </a:prstGeom>
          <a:noFill/>
          <a:ln/>
        </p:spPr>
        <p:txBody>
          <a:bodyPr wrap="square" lIns="0" tIns="0" rIns="0" bIns="0" rtlCol="0" anchor="t">
            <a:normAutofit/>
          </a:bodyPr>
          <a:lstStyle/>
          <a:p>
            <a:pPr algn="l" indent="0" marL="0">
              <a:lnSpc>
                <a:spcPts val="4480"/>
              </a:lnSpc>
              <a:buNone/>
            </a:pPr>
            <a:r>
              <a:rPr lang="en-US" sz="3200" b="1" dirty="0">
                <a:solidFill>
                  <a:srgbClr val="FFFFFF"/>
                </a:solidFill>
                <a:latin typeface="Barlow" pitchFamily="34" charset="0"/>
                <a:ea typeface="Barlow" pitchFamily="34" charset="-122"/>
                <a:cs typeface="Barlow" pitchFamily="34" charset="-120"/>
              </a:rPr>
              <a:t>3</a:t>
            </a:r>
            <a:endParaRPr lang="en-US" sz="3200" dirty="0"/>
          </a:p>
        </p:txBody>
      </p:sp>
      <p:sp>
        <p:nvSpPr>
          <p:cNvPr id="6" name="Text 4"/>
          <p:cNvSpPr/>
          <p:nvPr/>
        </p:nvSpPr>
        <p:spPr>
          <a:xfrm>
            <a:off x="1016000" y="3327400"/>
            <a:ext cx="2197608" cy="254000"/>
          </a:xfrm>
          <a:prstGeom prst="rect">
            <a:avLst/>
          </a:prstGeom>
          <a:noFill/>
          <a:ln/>
        </p:spPr>
        <p:txBody>
          <a:bodyPr wrap="square" lIns="0" tIns="0" rIns="0" bIns="0" rtlCol="0" anchor="t">
            <a:normAutofit/>
          </a:bodyPr>
          <a:lstStyle/>
          <a:p>
            <a:pPr algn="l" indent="0" marL="0">
              <a:lnSpc>
                <a:spcPts val="1800"/>
              </a:lnSpc>
              <a:buNone/>
            </a:pPr>
            <a:r>
              <a:rPr lang="en-US" sz="1500" dirty="0">
                <a:solidFill>
                  <a:srgbClr val="FFFFFF"/>
                </a:solidFill>
                <a:latin typeface="Barlow" pitchFamily="34" charset="0"/>
                <a:ea typeface="Barlow" pitchFamily="34" charset="-122"/>
                <a:cs typeface="Barlow" pitchFamily="34" charset="-120"/>
              </a:rPr>
              <a:t>Cloud concepts</a:t>
            </a:r>
            <a:endParaRPr lang="en-US" sz="1500" dirty="0"/>
          </a:p>
        </p:txBody>
      </p:sp>
      <p:sp>
        <p:nvSpPr>
          <p:cNvPr id="7" name="Shape 5"/>
          <p:cNvSpPr/>
          <p:nvPr/>
        </p:nvSpPr>
        <p:spPr>
          <a:xfrm>
            <a:off x="3403600" y="2235200"/>
            <a:ext cx="4673600" cy="1524000"/>
          </a:xfrm>
          <a:prstGeom prst="rect">
            <a:avLst/>
          </a:prstGeom>
          <a:solidFill>
            <a:srgbClr val="8D103D"/>
          </a:solidFill>
          <a:ln/>
        </p:spPr>
      </p:sp>
      <p:sp>
        <p:nvSpPr>
          <p:cNvPr id="8" name="Text 6"/>
          <p:cNvSpPr/>
          <p:nvPr/>
        </p:nvSpPr>
        <p:spPr>
          <a:xfrm>
            <a:off x="3606800" y="2438400"/>
            <a:ext cx="4395216" cy="594320"/>
          </a:xfrm>
          <a:prstGeom prst="rect">
            <a:avLst/>
          </a:prstGeom>
          <a:noFill/>
          <a:ln/>
        </p:spPr>
        <p:txBody>
          <a:bodyPr wrap="square" lIns="0" tIns="0" rIns="0" bIns="0" rtlCol="0" anchor="t">
            <a:normAutofit/>
          </a:bodyPr>
          <a:lstStyle/>
          <a:p>
            <a:pPr algn="l" indent="0" marL="0">
              <a:lnSpc>
                <a:spcPts val="4480"/>
              </a:lnSpc>
              <a:buNone/>
            </a:pPr>
            <a:r>
              <a:rPr lang="en-US" sz="3200" b="1" dirty="0">
                <a:solidFill>
                  <a:srgbClr val="FFFFFF"/>
                </a:solidFill>
                <a:latin typeface="Barlow" pitchFamily="34" charset="0"/>
                <a:ea typeface="Barlow" pitchFamily="34" charset="-122"/>
                <a:cs typeface="Barlow" pitchFamily="34" charset="-120"/>
              </a:rPr>
              <a:t>6</a:t>
            </a:r>
            <a:endParaRPr lang="en-US" sz="3200" dirty="0"/>
          </a:p>
        </p:txBody>
      </p:sp>
      <p:sp>
        <p:nvSpPr>
          <p:cNvPr id="9" name="Text 7"/>
          <p:cNvSpPr/>
          <p:nvPr/>
        </p:nvSpPr>
        <p:spPr>
          <a:xfrm>
            <a:off x="3606800" y="3327400"/>
            <a:ext cx="4395216" cy="254000"/>
          </a:xfrm>
          <a:prstGeom prst="rect">
            <a:avLst/>
          </a:prstGeom>
          <a:noFill/>
          <a:ln/>
        </p:spPr>
        <p:txBody>
          <a:bodyPr wrap="square" lIns="0" tIns="0" rIns="0" bIns="0" rtlCol="0" anchor="t">
            <a:normAutofit/>
          </a:bodyPr>
          <a:lstStyle/>
          <a:p>
            <a:pPr algn="l" indent="0" marL="0">
              <a:lnSpc>
                <a:spcPts val="1800"/>
              </a:lnSpc>
              <a:buNone/>
            </a:pPr>
            <a:r>
              <a:rPr lang="en-US" sz="1500" dirty="0">
                <a:solidFill>
                  <a:srgbClr val="FFFFFF"/>
                </a:solidFill>
                <a:latin typeface="Barlow" pitchFamily="34" charset="0"/>
                <a:ea typeface="Barlow" pitchFamily="34" charset="-122"/>
                <a:cs typeface="Barlow" pitchFamily="34" charset="-120"/>
              </a:rPr>
              <a:t>Architecture and services</a:t>
            </a:r>
            <a:endParaRPr lang="en-US" sz="1500" dirty="0"/>
          </a:p>
        </p:txBody>
      </p:sp>
      <p:sp>
        <p:nvSpPr>
          <p:cNvPr id="10" name="Shape 8"/>
          <p:cNvSpPr/>
          <p:nvPr/>
        </p:nvSpPr>
        <p:spPr>
          <a:xfrm>
            <a:off x="8128000" y="2235200"/>
            <a:ext cx="3251200" cy="1524000"/>
          </a:xfrm>
          <a:prstGeom prst="rect">
            <a:avLst/>
          </a:prstGeom>
          <a:solidFill>
            <a:srgbClr val="4A3B57"/>
          </a:solidFill>
          <a:ln/>
        </p:spPr>
      </p:sp>
      <p:sp>
        <p:nvSpPr>
          <p:cNvPr id="11" name="Text 9"/>
          <p:cNvSpPr/>
          <p:nvPr/>
        </p:nvSpPr>
        <p:spPr>
          <a:xfrm>
            <a:off x="8331200" y="2438400"/>
            <a:ext cx="2930144" cy="594320"/>
          </a:xfrm>
          <a:prstGeom prst="rect">
            <a:avLst/>
          </a:prstGeom>
          <a:noFill/>
          <a:ln/>
        </p:spPr>
        <p:txBody>
          <a:bodyPr wrap="square" lIns="0" tIns="0" rIns="0" bIns="0" rtlCol="0" anchor="t">
            <a:normAutofit/>
          </a:bodyPr>
          <a:lstStyle/>
          <a:p>
            <a:pPr algn="l" indent="0" marL="0">
              <a:lnSpc>
                <a:spcPts val="4480"/>
              </a:lnSpc>
              <a:buNone/>
            </a:pPr>
            <a:r>
              <a:rPr lang="en-US" sz="3200" b="1" dirty="0">
                <a:solidFill>
                  <a:srgbClr val="FFFFFF"/>
                </a:solidFill>
                <a:latin typeface="Barlow" pitchFamily="34" charset="0"/>
                <a:ea typeface="Barlow" pitchFamily="34" charset="-122"/>
                <a:cs typeface="Barlow" pitchFamily="34" charset="-120"/>
              </a:rPr>
              <a:t>4</a:t>
            </a:r>
            <a:endParaRPr lang="en-US" sz="3200" dirty="0"/>
          </a:p>
        </p:txBody>
      </p:sp>
      <p:sp>
        <p:nvSpPr>
          <p:cNvPr id="12" name="Text 10"/>
          <p:cNvSpPr/>
          <p:nvPr/>
        </p:nvSpPr>
        <p:spPr>
          <a:xfrm>
            <a:off x="8331200" y="3327400"/>
            <a:ext cx="2930144" cy="254000"/>
          </a:xfrm>
          <a:prstGeom prst="rect">
            <a:avLst/>
          </a:prstGeom>
          <a:noFill/>
          <a:ln/>
        </p:spPr>
        <p:txBody>
          <a:bodyPr wrap="square" lIns="0" tIns="0" rIns="0" bIns="0" rtlCol="0" anchor="t">
            <a:normAutofit/>
          </a:bodyPr>
          <a:lstStyle/>
          <a:p>
            <a:pPr algn="l" indent="0" marL="0">
              <a:lnSpc>
                <a:spcPts val="1800"/>
              </a:lnSpc>
              <a:buNone/>
            </a:pPr>
            <a:r>
              <a:rPr lang="en-US" sz="1500" dirty="0">
                <a:solidFill>
                  <a:srgbClr val="FFFFFF"/>
                </a:solidFill>
                <a:latin typeface="Barlow" pitchFamily="34" charset="0"/>
                <a:ea typeface="Barlow" pitchFamily="34" charset="-122"/>
                <a:cs typeface="Barlow" pitchFamily="34" charset="-120"/>
              </a:rPr>
              <a:t>Management and governance</a:t>
            </a:r>
            <a:endParaRPr lang="en-US" sz="1500" dirty="0"/>
          </a:p>
        </p:txBody>
      </p:sp>
      <p:sp>
        <p:nvSpPr>
          <p:cNvPr id="13" name="Text 11"/>
          <p:cNvSpPr/>
          <p:nvPr/>
        </p:nvSpPr>
        <p:spPr>
          <a:xfrm>
            <a:off x="812800" y="4064000"/>
            <a:ext cx="10883392" cy="608211"/>
          </a:xfrm>
          <a:prstGeom prst="rect">
            <a:avLst/>
          </a:prstGeom>
          <a:noFill/>
          <a:ln/>
        </p:spPr>
        <p:txBody>
          <a:bodyPr wrap="square" lIns="0" tIns="0" rIns="0" bIns="0" rtlCol="0" anchor="t">
            <a:normAutofit/>
          </a:bodyPr>
          <a:lstStyle/>
          <a:p>
            <a:pPr algn="l" indent="0" marL="0">
              <a:lnSpc>
                <a:spcPts val="2295"/>
              </a:lnSpc>
              <a:buNone/>
            </a:pPr>
            <a:r>
              <a:rPr lang="en-US" sz="1700" dirty="0">
                <a:solidFill>
                  <a:srgbClr val="4D4D57"/>
                </a:solidFill>
                <a:latin typeface="Barlow" pitchFamily="34" charset="0"/>
                <a:ea typeface="Barlow" pitchFamily="34" charset="-122"/>
                <a:cs typeface="Barlow" pitchFamily="34" charset="-120"/>
              </a:rPr>
              <a:t>Module 4, Core architecture of Azure, is complete. The other 12 follow the same format. Bars show module counts, not exam weightings.</a:t>
            </a:r>
            <a:endParaRPr lang="en-US" sz="1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BF7F9"/>
        </a:solidFill>
      </p:bgPr>
    </p:bg>
    <p:spTree>
      <p:nvGrpSpPr>
        <p:cNvPr id="1" name=""/>
        <p:cNvGrpSpPr/>
        <p:nvPr/>
      </p:nvGrpSpPr>
      <p:grpSpPr>
        <a:xfrm>
          <a:off x="0" y="0"/>
          <a:ext cx="0" cy="0"/>
          <a:chOff x="0" y="0"/>
          <a:chExt cx="0" cy="0"/>
        </a:xfrm>
      </p:grpSpPr>
      <p:sp>
        <p:nvSpPr>
          <p:cNvPr id="2" name="Shape 0"/>
          <p:cNvSpPr/>
          <p:nvPr/>
        </p:nvSpPr>
        <p:spPr>
          <a:xfrm>
            <a:off x="0" y="0"/>
            <a:ext cx="254000" cy="6858000"/>
          </a:xfrm>
          <a:prstGeom prst="rect">
            <a:avLst/>
          </a:prstGeom>
          <a:solidFill>
            <a:srgbClr val="8D103D"/>
          </a:solidFill>
          <a:ln/>
        </p:spPr>
      </p:sp>
      <p:sp>
        <p:nvSpPr>
          <p:cNvPr id="3" name="Text 1"/>
          <p:cNvSpPr/>
          <p:nvPr>
            <p:ph type="title"/>
          </p:nvPr>
        </p:nvSpPr>
        <p:spPr>
          <a:xfrm>
            <a:off x="812800" y="812800"/>
            <a:ext cx="10883392" cy="584200"/>
          </a:xfrm>
          <a:prstGeom prst="rect">
            <a:avLst/>
          </a:prstGeom>
          <a:noFill/>
          <a:ln/>
        </p:spPr>
        <p:txBody>
          <a:bodyPr wrap="square" lIns="0" tIns="0" rIns="0" bIns="0" rtlCol="0" anchor="t">
            <a:normAutofit/>
          </a:bodyPr>
          <a:lstStyle/>
          <a:p>
            <a:pPr algn="l" indent="0" marL="0">
              <a:lnSpc>
                <a:spcPts val="4400"/>
              </a:lnSpc>
              <a:buNone/>
            </a:pPr>
            <a:r>
              <a:rPr lang="en-US" sz="4000" b="1" i="0" dirty="0">
                <a:solidFill>
                  <a:srgbClr val="0A7F87"/>
                </a:solidFill>
                <a:latin typeface="Barlow" pitchFamily="34" charset="0"/>
                <a:ea typeface="Barlow" pitchFamily="34" charset="-122"/>
                <a:cs typeface="Barlow" pitchFamily="34" charset="-120"/>
              </a:rPr>
              <a:t>How it is different</a:t>
            </a:r>
            <a:endParaRPr lang="en-US" sz="4000" dirty="0"/>
          </a:p>
        </p:txBody>
      </p:sp>
      <p:sp>
        <p:nvSpPr>
          <p:cNvPr id="4" name="Text 2"/>
          <p:cNvSpPr/>
          <p:nvPr/>
        </p:nvSpPr>
        <p:spPr>
          <a:xfrm>
            <a:off x="812800" y="1676400"/>
            <a:ext cx="10883392" cy="351135"/>
          </a:xfrm>
          <a:prstGeom prst="rect">
            <a:avLst/>
          </a:prstGeom>
          <a:noFill/>
          <a:ln/>
        </p:spPr>
        <p:txBody>
          <a:bodyPr wrap="square" lIns="0" tIns="0" rIns="0" bIns="0" rtlCol="0" anchor="t">
            <a:normAutofit/>
          </a:bodyPr>
          <a:lstStyle/>
          <a:p>
            <a:pPr algn="l" indent="0" marL="0">
              <a:lnSpc>
                <a:spcPts val="2565"/>
              </a:lnSpc>
              <a:buNone/>
            </a:pPr>
            <a:r>
              <a:rPr lang="en-US" sz="1900" dirty="0">
                <a:solidFill>
                  <a:srgbClr val="4D4D57"/>
                </a:solidFill>
                <a:latin typeface="Barlow" pitchFamily="34" charset="0"/>
                <a:ea typeface="Barlow" pitchFamily="34" charset="-122"/>
                <a:cs typeface="Barlow" pitchFamily="34" charset="-120"/>
              </a:rPr>
              <a:t>Alternatives include official practice assessments, paid practice-test sites and video courses.</a:t>
            </a:r>
            <a:endParaRPr lang="en-US" sz="1900" dirty="0"/>
          </a:p>
        </p:txBody>
      </p:sp>
      <p:sp>
        <p:nvSpPr>
          <p:cNvPr id="5" name="Text 3"/>
          <p:cNvSpPr/>
          <p:nvPr/>
        </p:nvSpPr>
        <p:spPr>
          <a:xfrm>
            <a:off x="842010" y="2306935"/>
            <a:ext cx="10846562" cy="1447800"/>
          </a:xfrm>
          <a:prstGeom prst="rect">
            <a:avLst/>
          </a:prstGeom>
          <a:noFill/>
          <a:ln/>
        </p:spPr>
        <p:txBody>
          <a:bodyPr wrap="square" lIns="0" tIns="0" rIns="0" bIns="0" rtlCol="0" anchor="t">
            <a:normAutofit/>
          </a:bodyPr>
          <a:lstStyle/>
          <a:p>
            <a:pPr algn="l" marL="224790" indent="-224790">
              <a:lnSpc>
                <a:spcPts val="2800"/>
              </a:lnSpc>
              <a:buSzPct val="100000"/>
              <a:buChar char="•"/>
            </a:pPr>
            <a:r>
              <a:rPr lang="en-US" sz="2000" dirty="0">
                <a:solidFill>
                  <a:srgbClr val="1B1B1F"/>
                </a:solidFill>
                <a:latin typeface="Barlow" pitchFamily="34" charset="0"/>
                <a:ea typeface="Barlow" pitchFamily="34" charset="-122"/>
                <a:cs typeface="Barlow" pitchFamily="34" charset="-120"/>
              </a:rPr>
              <a:t>Explains every wrong option, not only the right one</a:t>
            </a:r>
            <a:endParaRPr lang="en-US" sz="2000" dirty="0"/>
          </a:p>
          <a:p>
            <a:pPr algn="l" marL="224790" indent="-224790">
              <a:lnSpc>
                <a:spcPts val="2800"/>
              </a:lnSpc>
              <a:buSzPct val="100000"/>
              <a:buChar char="•"/>
            </a:pPr>
            <a:r>
              <a:rPr lang="en-US" sz="2000" dirty="0">
                <a:solidFill>
                  <a:srgbClr val="1B1B1F"/>
                </a:solidFill>
                <a:latin typeface="Barlow" pitchFamily="34" charset="0"/>
                <a:ea typeface="Barlow" pitchFamily="34" charset="-122"/>
                <a:cs typeface="Barlow" pitchFamily="34" charset="-120"/>
              </a:rPr>
              <a:t>Notes, quiz and exam simulation in one place</a:t>
            </a:r>
            <a:endParaRPr lang="en-US" sz="2000" dirty="0"/>
          </a:p>
          <a:p>
            <a:pPr algn="l" marL="224790" indent="-224790">
              <a:lnSpc>
                <a:spcPts val="2800"/>
              </a:lnSpc>
              <a:buSzPct val="100000"/>
              <a:buChar char="•"/>
            </a:pPr>
            <a:r>
              <a:rPr lang="en-US" sz="2000" dirty="0">
                <a:solidFill>
                  <a:srgbClr val="1B1B1F"/>
                </a:solidFill>
                <a:latin typeface="Barlow" pitchFamily="34" charset="0"/>
                <a:ea typeface="Barlow" pitchFamily="34" charset="-122"/>
                <a:cs typeface="Barlow" pitchFamily="34" charset="-120"/>
              </a:rPr>
              <a:t>Original questions, never exam dumps</a:t>
            </a:r>
            <a:endParaRPr lang="en-US" sz="2000" dirty="0"/>
          </a:p>
          <a:p>
            <a:pPr algn="l" marL="224790" indent="-224790">
              <a:lnSpc>
                <a:spcPts val="2800"/>
              </a:lnSpc>
              <a:buSzPct val="100000"/>
              <a:buChar char="•"/>
            </a:pPr>
            <a:r>
              <a:rPr lang="en-US" sz="2000" dirty="0">
                <a:solidFill>
                  <a:srgbClr val="1B1B1F"/>
                </a:solidFill>
                <a:latin typeface="Barlow" pitchFamily="34" charset="0"/>
                <a:ea typeface="Barlow" pitchFamily="34" charset="-122"/>
                <a:cs typeface="Barlow" pitchFamily="34" charset="-120"/>
              </a:rPr>
              <a:t>Free, no login and light on data</a:t>
            </a:r>
            <a:endParaRPr lang="en-US" sz="2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BF7F9"/>
        </a:solidFill>
      </p:bgPr>
    </p:bg>
    <p:spTree>
      <p:nvGrpSpPr>
        <p:cNvPr id="1" name=""/>
        <p:cNvGrpSpPr/>
        <p:nvPr/>
      </p:nvGrpSpPr>
      <p:grpSpPr>
        <a:xfrm>
          <a:off x="0" y="0"/>
          <a:ext cx="0" cy="0"/>
          <a:chOff x="0" y="0"/>
          <a:chExt cx="0" cy="0"/>
        </a:xfrm>
      </p:grpSpPr>
      <p:sp>
        <p:nvSpPr>
          <p:cNvPr id="2" name="Shape 0"/>
          <p:cNvSpPr/>
          <p:nvPr/>
        </p:nvSpPr>
        <p:spPr>
          <a:xfrm>
            <a:off x="0" y="0"/>
            <a:ext cx="254000" cy="6858000"/>
          </a:xfrm>
          <a:prstGeom prst="rect">
            <a:avLst/>
          </a:prstGeom>
          <a:solidFill>
            <a:srgbClr val="8D103D"/>
          </a:solidFill>
          <a:ln/>
        </p:spPr>
      </p:sp>
      <p:sp>
        <p:nvSpPr>
          <p:cNvPr id="3" name="Text 1"/>
          <p:cNvSpPr/>
          <p:nvPr>
            <p:ph type="title"/>
          </p:nvPr>
        </p:nvSpPr>
        <p:spPr>
          <a:xfrm>
            <a:off x="812800" y="812800"/>
            <a:ext cx="10883392" cy="584200"/>
          </a:xfrm>
          <a:prstGeom prst="rect">
            <a:avLst/>
          </a:prstGeom>
          <a:noFill/>
          <a:ln/>
        </p:spPr>
        <p:txBody>
          <a:bodyPr wrap="square" lIns="0" tIns="0" rIns="0" bIns="0" rtlCol="0" anchor="t">
            <a:normAutofit/>
          </a:bodyPr>
          <a:lstStyle/>
          <a:p>
            <a:pPr algn="l" indent="0" marL="0">
              <a:lnSpc>
                <a:spcPts val="4400"/>
              </a:lnSpc>
              <a:buNone/>
            </a:pPr>
            <a:r>
              <a:rPr lang="en-US" sz="4000" b="1" i="0" dirty="0">
                <a:solidFill>
                  <a:srgbClr val="0A7F87"/>
                </a:solidFill>
                <a:latin typeface="Barlow" pitchFamily="34" charset="0"/>
                <a:ea typeface="Barlow" pitchFamily="34" charset="-122"/>
                <a:cs typeface="Barlow" pitchFamily="34" charset="-120"/>
              </a:rPr>
              <a:t>Progress and roadmap</a:t>
            </a:r>
            <a:endParaRPr lang="en-US" sz="4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689100"/>
          <a:ext cx="10553700" cy="3359150"/>
        </p:xfrm>
        <a:graphic>
          <a:graphicData uri="http://schemas.openxmlformats.org/drawingml/2006/table">
            <a:tbl>
              <a:tblPr/>
              <a:tblGrid>
                <a:gridCol w="5276850"/>
                <a:gridCol w="5276850"/>
              </a:tblGrid>
              <a:tr h="439241">
                <a:tc>
                  <a:txBody>
                    <a:bodyPr/>
                    <a:lstStyle/>
                    <a:p>
                      <a:pPr indent="0" marL="0">
                        <a:lnSpc>
                          <a:spcPts val="2240"/>
                        </a:lnSpc>
                        <a:buNone/>
                      </a:pPr>
                      <a:r>
                        <a:rPr lang="en-US" sz="1600" b="1" dirty="0">
                          <a:solidFill>
                            <a:srgbClr val="1B1B1F"/>
                          </a:solidFill>
                          <a:latin typeface="Barlow" pitchFamily="34" charset="0"/>
                          <a:ea typeface="Barlow" pitchFamily="34" charset="-122"/>
                          <a:cs typeface="Barlow" pitchFamily="34" charset="-120"/>
                        </a:rPr>
                        <a:t>Status</a:t>
                      </a:r>
                      <a:endParaRPr lang="en-US" sz="1600" dirty="0">
                        <a:latin typeface="Barlow" charset="0"/>
                        <a:ea typeface="Barlow" charset="0"/>
                        <a:cs typeface="Barlow" charset="0"/>
                      </a:endParaRPr>
                    </a:p>
                  </a:txBody>
                  <a:tcPr marL="71120" marR="71120" marT="71120" marB="71120" anchor="t">
                    <a:lnL w="12700" cap="flat" cmpd="sng" algn="ctr">
                      <a:solidFill>
                        <a:srgbClr val="C8C5C6"/>
                      </a:solidFill>
                      <a:prstDash val="solid"/>
                      <a:round/>
                      <a:headEnd type="none" w="med" len="med"/>
                      <a:tailEnd type="none" w="med" len="med"/>
                    </a:lnL>
                    <a:lnR w="12700" cap="flat" cmpd="sng" algn="ctr">
                      <a:solidFill>
                        <a:srgbClr val="BAB7B8"/>
                      </a:solidFill>
                      <a:prstDash val="solid"/>
                      <a:round/>
                      <a:headEnd type="none" w="med" len="med"/>
                      <a:tailEnd type="none" w="med" len="med"/>
                    </a:lnR>
                    <a:lnT w="12700" cap="flat" cmpd="sng" algn="ctr">
                      <a:solidFill>
                        <a:srgbClr val="C8C5C6"/>
                      </a:solidFill>
                      <a:prstDash val="solid"/>
                      <a:round/>
                      <a:headEnd type="none" w="med" len="med"/>
                      <a:tailEnd type="none" w="med" len="med"/>
                    </a:lnT>
                    <a:lnB w="12700" cap="flat" cmpd="sng" algn="ctr">
                      <a:solidFill>
                        <a:srgbClr val="BAB7B8"/>
                      </a:solidFill>
                      <a:prstDash val="solid"/>
                      <a:round/>
                      <a:headEnd type="none" w="med" len="med"/>
                      <a:tailEnd type="none" w="med" len="med"/>
                    </a:lnB>
                    <a:solidFill>
                      <a:srgbClr val="E9E5E7"/>
                    </a:solidFill>
                  </a:tcPr>
                </a:tc>
                <a:tc>
                  <a:txBody>
                    <a:bodyPr/>
                    <a:lstStyle/>
                    <a:p>
                      <a:pPr indent="0" marL="0">
                        <a:lnSpc>
                          <a:spcPts val="2240"/>
                        </a:lnSpc>
                        <a:buNone/>
                      </a:pPr>
                      <a:r>
                        <a:rPr lang="en-US" sz="1600" b="1" dirty="0">
                          <a:solidFill>
                            <a:srgbClr val="1B1B1F"/>
                          </a:solidFill>
                          <a:latin typeface="Barlow" pitchFamily="34" charset="0"/>
                          <a:ea typeface="Barlow" pitchFamily="34" charset="-122"/>
                          <a:cs typeface="Barlow" pitchFamily="34" charset="-120"/>
                        </a:rPr>
                        <a:t>Milestone</a:t>
                      </a:r>
                      <a:endParaRPr lang="en-US" sz="1600" dirty="0">
                        <a:latin typeface="Barlow" charset="0"/>
                        <a:ea typeface="Barlow" charset="0"/>
                        <a:cs typeface="Barlow" charset="0"/>
                      </a:endParaRPr>
                    </a:p>
                  </a:txBody>
                  <a:tcPr marL="71120" marR="71120" marT="71120" marB="71120" anchor="t">
                    <a:lnL w="12700" cap="flat" cmpd="sng" algn="ctr">
                      <a:solidFill>
                        <a:srgbClr val="BAB7B8"/>
                      </a:solidFill>
                      <a:prstDash val="solid"/>
                      <a:round/>
                      <a:headEnd type="none" w="med" len="med"/>
                      <a:tailEnd type="none" w="med" len="med"/>
                    </a:lnL>
                    <a:lnR w="12700" cap="flat" cmpd="sng" algn="ctr">
                      <a:solidFill>
                        <a:srgbClr val="BAB7B8"/>
                      </a:solidFill>
                      <a:prstDash val="solid"/>
                      <a:round/>
                      <a:headEnd type="none" w="med" len="med"/>
                      <a:tailEnd type="none" w="med" len="med"/>
                    </a:lnR>
                    <a:lnT w="12700" cap="flat" cmpd="sng" algn="ctr">
                      <a:solidFill>
                        <a:srgbClr val="C8C5C6"/>
                      </a:solidFill>
                      <a:prstDash val="solid"/>
                      <a:round/>
                      <a:headEnd type="none" w="med" len="med"/>
                      <a:tailEnd type="none" w="med" len="med"/>
                    </a:lnT>
                    <a:lnB w="12700" cap="flat" cmpd="sng" algn="ctr">
                      <a:solidFill>
                        <a:srgbClr val="BAB7B8"/>
                      </a:solidFill>
                      <a:prstDash val="solid"/>
                      <a:round/>
                      <a:headEnd type="none" w="med" len="med"/>
                      <a:tailEnd type="none" w="med" len="med"/>
                    </a:lnB>
                    <a:solidFill>
                      <a:srgbClr val="E9E5E7"/>
                    </a:solidFill>
                  </a:tcPr>
                </a:tc>
              </a:tr>
              <a:tr h="439241">
                <a:tc>
                  <a:txBody>
                    <a:bodyPr/>
                    <a:lstStyle/>
                    <a:p>
                      <a:pPr indent="0" marL="0">
                        <a:lnSpc>
                          <a:spcPts val="2240"/>
                        </a:lnSpc>
                        <a:buNone/>
                      </a:pPr>
                      <a:r>
                        <a:rPr lang="en-US" sz="1600" dirty="0">
                          <a:solidFill>
                            <a:srgbClr val="1B1B1F"/>
                          </a:solidFill>
                          <a:latin typeface="Barlow" pitchFamily="34" charset="0"/>
                          <a:ea typeface="Barlow" pitchFamily="34" charset="-122"/>
                          <a:cs typeface="Barlow" pitchFamily="34" charset="-120"/>
                        </a:rPr>
                        <a:t>Done</a:t>
                      </a:r>
                      <a:endParaRPr lang="en-US" sz="1600" dirty="0">
                        <a:latin typeface="Barlow" charset="0"/>
                        <a:ea typeface="Barlow" charset="0"/>
                        <a:cs typeface="Barlow" charset="0"/>
                      </a:endParaRPr>
                    </a:p>
                  </a:txBody>
                  <a:tcPr marL="71120" marR="71120" marT="71120" marB="71120" anchor="t">
                    <a:lnL w="12700" cap="flat" cmpd="sng" algn="ctr">
                      <a:solidFill>
                        <a:srgbClr val="C8C5C6"/>
                      </a:solidFill>
                      <a:prstDash val="solid"/>
                      <a:round/>
                      <a:headEnd type="none" w="med" len="med"/>
                      <a:tailEnd type="none" w="med" len="med"/>
                    </a:lnL>
                    <a:lnR w="12700" cap="flat" cmpd="sng" algn="ctr">
                      <a:solidFill>
                        <a:srgbClr val="C8C5C6"/>
                      </a:solidFill>
                      <a:prstDash val="solid"/>
                      <a:round/>
                      <a:headEnd type="none" w="med" len="med"/>
                      <a:tailEnd type="none" w="med" len="med"/>
                    </a:lnR>
                    <a:lnT w="12700" cap="flat" cmpd="sng" algn="ctr">
                      <a:solidFill>
                        <a:srgbClr val="BAB7B8"/>
                      </a:solidFill>
                      <a:prstDash val="solid"/>
                      <a:round/>
                      <a:headEnd type="none" w="med" len="med"/>
                      <a:tailEnd type="none" w="med" len="med"/>
                    </a:lnT>
                    <a:lnB w="12700" cap="flat" cmpd="sng" algn="ctr">
                      <a:solidFill>
                        <a:srgbClr val="C8C5C6"/>
                      </a:solidFill>
                      <a:prstDash val="solid"/>
                      <a:round/>
                      <a:headEnd type="none" w="med" len="med"/>
                      <a:tailEnd type="none" w="med" len="med"/>
                    </a:lnB>
                  </a:tcPr>
                </a:tc>
                <a:tc>
                  <a:txBody>
                    <a:bodyPr/>
                    <a:lstStyle/>
                    <a:p>
                      <a:pPr indent="0" marL="0">
                        <a:lnSpc>
                          <a:spcPts val="2240"/>
                        </a:lnSpc>
                        <a:buNone/>
                      </a:pPr>
                      <a:r>
                        <a:rPr lang="en-US" sz="1600" dirty="0">
                          <a:solidFill>
                            <a:srgbClr val="1B1B1F"/>
                          </a:solidFill>
                          <a:latin typeface="Barlow" pitchFamily="34" charset="0"/>
                          <a:ea typeface="Barlow" pitchFamily="34" charset="-122"/>
                          <a:cs typeface="Barlow" pitchFamily="34" charset="-120"/>
                        </a:rPr>
                        <a:t>Quiz engine, exam simulation and automated tests</a:t>
                      </a:r>
                      <a:endParaRPr lang="en-US" sz="1600" dirty="0">
                        <a:latin typeface="Barlow" charset="0"/>
                        <a:ea typeface="Barlow" charset="0"/>
                        <a:cs typeface="Barlow" charset="0"/>
                      </a:endParaRPr>
                    </a:p>
                  </a:txBody>
                  <a:tcPr marL="71120" marR="71120" marT="71120" marB="71120" anchor="t">
                    <a:lnL w="12700" cap="flat" cmpd="sng" algn="ctr">
                      <a:solidFill>
                        <a:srgbClr val="C8C5C6"/>
                      </a:solidFill>
                      <a:prstDash val="solid"/>
                      <a:round/>
                      <a:headEnd type="none" w="med" len="med"/>
                      <a:tailEnd type="none" w="med" len="med"/>
                    </a:lnL>
                    <a:lnR w="12700" cap="flat" cmpd="sng" algn="ctr">
                      <a:solidFill>
                        <a:srgbClr val="C8C5C6"/>
                      </a:solidFill>
                      <a:prstDash val="solid"/>
                      <a:round/>
                      <a:headEnd type="none" w="med" len="med"/>
                      <a:tailEnd type="none" w="med" len="med"/>
                    </a:lnR>
                    <a:lnT w="12700" cap="flat" cmpd="sng" algn="ctr">
                      <a:solidFill>
                        <a:srgbClr val="BAB7B8"/>
                      </a:solidFill>
                      <a:prstDash val="solid"/>
                      <a:round/>
                      <a:headEnd type="none" w="med" len="med"/>
                      <a:tailEnd type="none" w="med" len="med"/>
                    </a:lnT>
                    <a:lnB w="12700" cap="flat" cmpd="sng" algn="ctr">
                      <a:solidFill>
                        <a:srgbClr val="C8C5C6"/>
                      </a:solidFill>
                      <a:prstDash val="solid"/>
                      <a:round/>
                      <a:headEnd type="none" w="med" len="med"/>
                      <a:tailEnd type="none" w="med" len="med"/>
                    </a:lnB>
                  </a:tcPr>
                </a:tc>
              </a:tr>
              <a:tr h="439241">
                <a:tc>
                  <a:txBody>
                    <a:bodyPr/>
                    <a:lstStyle/>
                    <a:p>
                      <a:pPr indent="0" marL="0">
                        <a:lnSpc>
                          <a:spcPts val="2240"/>
                        </a:lnSpc>
                        <a:buNone/>
                      </a:pPr>
                      <a:r>
                        <a:rPr lang="en-US" sz="1600" dirty="0">
                          <a:solidFill>
                            <a:srgbClr val="1B1B1F"/>
                          </a:solidFill>
                          <a:latin typeface="Barlow" pitchFamily="34" charset="0"/>
                          <a:ea typeface="Barlow" pitchFamily="34" charset="-122"/>
                          <a:cs typeface="Barlow" pitchFamily="34" charset="-120"/>
                        </a:rPr>
                        <a:t>Done</a:t>
                      </a:r>
                      <a:endParaRPr lang="en-US" sz="1600" dirty="0">
                        <a:latin typeface="Barlow" charset="0"/>
                        <a:ea typeface="Barlow" charset="0"/>
                        <a:cs typeface="Barlow" charset="0"/>
                      </a:endParaRPr>
                    </a:p>
                  </a:txBody>
                  <a:tcPr marL="71120" marR="71120" marT="71120" marB="71120" anchor="t">
                    <a:lnL w="12700" cap="flat" cmpd="sng" algn="ctr">
                      <a:solidFill>
                        <a:srgbClr val="C8C5C6"/>
                      </a:solidFill>
                      <a:prstDash val="solid"/>
                      <a:round/>
                      <a:headEnd type="none" w="med" len="med"/>
                      <a:tailEnd type="none" w="med" len="med"/>
                    </a:lnL>
                    <a:lnR w="12700" cap="flat" cmpd="sng" algn="ctr">
                      <a:solidFill>
                        <a:srgbClr val="C8C5C6"/>
                      </a:solidFill>
                      <a:prstDash val="solid"/>
                      <a:round/>
                      <a:headEnd type="none" w="med" len="med"/>
                      <a:tailEnd type="none" w="med" len="med"/>
                    </a:lnR>
                    <a:lnT w="12700" cap="flat" cmpd="sng" algn="ctr">
                      <a:solidFill>
                        <a:srgbClr val="C8C5C6"/>
                      </a:solidFill>
                      <a:prstDash val="solid"/>
                      <a:round/>
                      <a:headEnd type="none" w="med" len="med"/>
                      <a:tailEnd type="none" w="med" len="med"/>
                    </a:lnT>
                    <a:lnB w="12700" cap="flat" cmpd="sng" algn="ctr">
                      <a:solidFill>
                        <a:srgbClr val="C8C5C6"/>
                      </a:solidFill>
                      <a:prstDash val="solid"/>
                      <a:round/>
                      <a:headEnd type="none" w="med" len="med"/>
                      <a:tailEnd type="none" w="med" len="med"/>
                    </a:lnB>
                  </a:tcPr>
                </a:tc>
                <a:tc>
                  <a:txBody>
                    <a:bodyPr/>
                    <a:lstStyle/>
                    <a:p>
                      <a:pPr indent="0" marL="0">
                        <a:lnSpc>
                          <a:spcPts val="2240"/>
                        </a:lnSpc>
                        <a:buNone/>
                      </a:pPr>
                      <a:r>
                        <a:rPr lang="en-US" sz="1600" dirty="0">
                          <a:solidFill>
                            <a:srgbClr val="1B1B1F"/>
                          </a:solidFill>
                          <a:latin typeface="Barlow" pitchFamily="34" charset="0"/>
                          <a:ea typeface="Barlow" pitchFamily="34" charset="-122"/>
                          <a:cs typeface="Barlow" pitchFamily="34" charset="-120"/>
                        </a:rPr>
                        <a:t>Module 4: notes and 13 reviewed-ready questions</a:t>
                      </a:r>
                      <a:endParaRPr lang="en-US" sz="1600" dirty="0">
                        <a:latin typeface="Barlow" charset="0"/>
                        <a:ea typeface="Barlow" charset="0"/>
                        <a:cs typeface="Barlow" charset="0"/>
                      </a:endParaRPr>
                    </a:p>
                  </a:txBody>
                  <a:tcPr marL="71120" marR="71120" marT="71120" marB="71120" anchor="t">
                    <a:lnL w="12700" cap="flat" cmpd="sng" algn="ctr">
                      <a:solidFill>
                        <a:srgbClr val="C8C5C6"/>
                      </a:solidFill>
                      <a:prstDash val="solid"/>
                      <a:round/>
                      <a:headEnd type="none" w="med" len="med"/>
                      <a:tailEnd type="none" w="med" len="med"/>
                    </a:lnL>
                    <a:lnR w="12700" cap="flat" cmpd="sng" algn="ctr">
                      <a:solidFill>
                        <a:srgbClr val="C8C5C6"/>
                      </a:solidFill>
                      <a:prstDash val="solid"/>
                      <a:round/>
                      <a:headEnd type="none" w="med" len="med"/>
                      <a:tailEnd type="none" w="med" len="med"/>
                    </a:lnR>
                    <a:lnT w="12700" cap="flat" cmpd="sng" algn="ctr">
                      <a:solidFill>
                        <a:srgbClr val="C8C5C6"/>
                      </a:solidFill>
                      <a:prstDash val="solid"/>
                      <a:round/>
                      <a:headEnd type="none" w="med" len="med"/>
                      <a:tailEnd type="none" w="med" len="med"/>
                    </a:lnT>
                    <a:lnB w="12700" cap="flat" cmpd="sng" algn="ctr">
                      <a:solidFill>
                        <a:srgbClr val="C8C5C6"/>
                      </a:solidFill>
                      <a:prstDash val="solid"/>
                      <a:round/>
                      <a:headEnd type="none" w="med" len="med"/>
                      <a:tailEnd type="none" w="med" len="med"/>
                    </a:lnB>
                  </a:tcPr>
                </a:tc>
              </a:tr>
              <a:tr h="723702">
                <a:tc>
                  <a:txBody>
                    <a:bodyPr/>
                    <a:lstStyle/>
                    <a:p>
                      <a:pPr indent="0" marL="0">
                        <a:lnSpc>
                          <a:spcPts val="2240"/>
                        </a:lnSpc>
                        <a:buNone/>
                      </a:pPr>
                      <a:r>
                        <a:rPr lang="en-US" sz="1600" dirty="0">
                          <a:solidFill>
                            <a:srgbClr val="1B1B1F"/>
                          </a:solidFill>
                          <a:latin typeface="Barlow" pitchFamily="34" charset="0"/>
                          <a:ea typeface="Barlow" pitchFamily="34" charset="-122"/>
                          <a:cs typeface="Barlow" pitchFamily="34" charset="-120"/>
                        </a:rPr>
                        <a:t>Next</a:t>
                      </a:r>
                      <a:endParaRPr lang="en-US" sz="1600" dirty="0">
                        <a:latin typeface="Barlow" charset="0"/>
                        <a:ea typeface="Barlow" charset="0"/>
                        <a:cs typeface="Barlow" charset="0"/>
                      </a:endParaRPr>
                    </a:p>
                  </a:txBody>
                  <a:tcPr marL="71120" marR="71120" marT="71120" marB="71120" anchor="t">
                    <a:lnL w="12700" cap="flat" cmpd="sng" algn="ctr">
                      <a:solidFill>
                        <a:srgbClr val="C8C5C6"/>
                      </a:solidFill>
                      <a:prstDash val="solid"/>
                      <a:round/>
                      <a:headEnd type="none" w="med" len="med"/>
                      <a:tailEnd type="none" w="med" len="med"/>
                    </a:lnL>
                    <a:lnR w="12700" cap="flat" cmpd="sng" algn="ctr">
                      <a:solidFill>
                        <a:srgbClr val="C8C5C6"/>
                      </a:solidFill>
                      <a:prstDash val="solid"/>
                      <a:round/>
                      <a:headEnd type="none" w="med" len="med"/>
                      <a:tailEnd type="none" w="med" len="med"/>
                    </a:lnR>
                    <a:lnT w="12700" cap="flat" cmpd="sng" algn="ctr">
                      <a:solidFill>
                        <a:srgbClr val="C8C5C6"/>
                      </a:solidFill>
                      <a:prstDash val="solid"/>
                      <a:round/>
                      <a:headEnd type="none" w="med" len="med"/>
                      <a:tailEnd type="none" w="med" len="med"/>
                    </a:lnT>
                    <a:lnB w="12700" cap="flat" cmpd="sng" algn="ctr">
                      <a:solidFill>
                        <a:srgbClr val="C8C5C6"/>
                      </a:solidFill>
                      <a:prstDash val="solid"/>
                      <a:round/>
                      <a:headEnd type="none" w="med" len="med"/>
                      <a:tailEnd type="none" w="med" len="med"/>
                    </a:lnB>
                  </a:tcPr>
                </a:tc>
                <a:tc>
                  <a:txBody>
                    <a:bodyPr/>
                    <a:lstStyle/>
                    <a:p>
                      <a:pPr indent="0" marL="0">
                        <a:lnSpc>
                          <a:spcPts val="2240"/>
                        </a:lnSpc>
                        <a:buNone/>
                      </a:pPr>
                      <a:r>
                        <a:rPr lang="en-US" sz="1600" dirty="0">
                          <a:solidFill>
                            <a:srgbClr val="1B1B1F"/>
                          </a:solidFill>
                          <a:latin typeface="Barlow" pitchFamily="34" charset="0"/>
                          <a:ea typeface="Barlow" pitchFamily="34" charset="-122"/>
                          <a:cs typeface="Barlow" pitchFamily="34" charset="-120"/>
                        </a:rPr>
                        <a:t>Check content against Microsoft's outline, then deploy on Render</a:t>
                      </a:r>
                      <a:endParaRPr lang="en-US" sz="1600" dirty="0">
                        <a:latin typeface="Barlow" charset="0"/>
                        <a:ea typeface="Barlow" charset="0"/>
                        <a:cs typeface="Barlow" charset="0"/>
                      </a:endParaRPr>
                    </a:p>
                  </a:txBody>
                  <a:tcPr marL="71120" marR="71120" marT="71120" marB="71120" anchor="t">
                    <a:lnL w="12700" cap="flat" cmpd="sng" algn="ctr">
                      <a:solidFill>
                        <a:srgbClr val="C8C5C6"/>
                      </a:solidFill>
                      <a:prstDash val="solid"/>
                      <a:round/>
                      <a:headEnd type="none" w="med" len="med"/>
                      <a:tailEnd type="none" w="med" len="med"/>
                    </a:lnL>
                    <a:lnR w="12700" cap="flat" cmpd="sng" algn="ctr">
                      <a:solidFill>
                        <a:srgbClr val="C8C5C6"/>
                      </a:solidFill>
                      <a:prstDash val="solid"/>
                      <a:round/>
                      <a:headEnd type="none" w="med" len="med"/>
                      <a:tailEnd type="none" w="med" len="med"/>
                    </a:lnR>
                    <a:lnT w="12700" cap="flat" cmpd="sng" algn="ctr">
                      <a:solidFill>
                        <a:srgbClr val="C8C5C6"/>
                      </a:solidFill>
                      <a:prstDash val="solid"/>
                      <a:round/>
                      <a:headEnd type="none" w="med" len="med"/>
                      <a:tailEnd type="none" w="med" len="med"/>
                    </a:lnT>
                    <a:lnB w="12700" cap="flat" cmpd="sng" algn="ctr">
                      <a:solidFill>
                        <a:srgbClr val="C8C5C6"/>
                      </a:solidFill>
                      <a:prstDash val="solid"/>
                      <a:round/>
                      <a:headEnd type="none" w="med" len="med"/>
                      <a:tailEnd type="none" w="med" len="med"/>
                    </a:lnB>
                  </a:tcPr>
                </a:tc>
              </a:tr>
              <a:tr h="439241">
                <a:tc>
                  <a:txBody>
                    <a:bodyPr/>
                    <a:lstStyle/>
                    <a:p>
                      <a:pPr indent="0" marL="0">
                        <a:lnSpc>
                          <a:spcPts val="2240"/>
                        </a:lnSpc>
                        <a:buNone/>
                      </a:pPr>
                      <a:r>
                        <a:rPr lang="en-US" sz="1600" dirty="0">
                          <a:solidFill>
                            <a:srgbClr val="1B1B1F"/>
                          </a:solidFill>
                          <a:latin typeface="Barlow" pitchFamily="34" charset="0"/>
                          <a:ea typeface="Barlow" pitchFamily="34" charset="-122"/>
                          <a:cs typeface="Barlow" pitchFamily="34" charset="-120"/>
                        </a:rPr>
                        <a:t>Then</a:t>
                      </a:r>
                      <a:endParaRPr lang="en-US" sz="1600" dirty="0">
                        <a:latin typeface="Barlow" charset="0"/>
                        <a:ea typeface="Barlow" charset="0"/>
                        <a:cs typeface="Barlow" charset="0"/>
                      </a:endParaRPr>
                    </a:p>
                  </a:txBody>
                  <a:tcPr marL="71120" marR="71120" marT="71120" marB="71120" anchor="t">
                    <a:lnL w="12700" cap="flat" cmpd="sng" algn="ctr">
                      <a:solidFill>
                        <a:srgbClr val="C8C5C6"/>
                      </a:solidFill>
                      <a:prstDash val="solid"/>
                      <a:round/>
                      <a:headEnd type="none" w="med" len="med"/>
                      <a:tailEnd type="none" w="med" len="med"/>
                    </a:lnL>
                    <a:lnR w="12700" cap="flat" cmpd="sng" algn="ctr">
                      <a:solidFill>
                        <a:srgbClr val="C8C5C6"/>
                      </a:solidFill>
                      <a:prstDash val="solid"/>
                      <a:round/>
                      <a:headEnd type="none" w="med" len="med"/>
                      <a:tailEnd type="none" w="med" len="med"/>
                    </a:lnR>
                    <a:lnT w="12700" cap="flat" cmpd="sng" algn="ctr">
                      <a:solidFill>
                        <a:srgbClr val="C8C5C6"/>
                      </a:solidFill>
                      <a:prstDash val="solid"/>
                      <a:round/>
                      <a:headEnd type="none" w="med" len="med"/>
                      <a:tailEnd type="none" w="med" len="med"/>
                    </a:lnT>
                    <a:lnB w="12700" cap="flat" cmpd="sng" algn="ctr">
                      <a:solidFill>
                        <a:srgbClr val="C8C5C6"/>
                      </a:solidFill>
                      <a:prstDash val="solid"/>
                      <a:round/>
                      <a:headEnd type="none" w="med" len="med"/>
                      <a:tailEnd type="none" w="med" len="med"/>
                    </a:lnB>
                  </a:tcPr>
                </a:tc>
                <a:tc>
                  <a:txBody>
                    <a:bodyPr/>
                    <a:lstStyle/>
                    <a:p>
                      <a:pPr indent="0" marL="0">
                        <a:lnSpc>
                          <a:spcPts val="2240"/>
                        </a:lnSpc>
                        <a:buNone/>
                      </a:pPr>
                      <a:r>
                        <a:rPr lang="en-US" sz="1600" dirty="0">
                          <a:solidFill>
                            <a:srgbClr val="1B1B1F"/>
                          </a:solidFill>
                          <a:latin typeface="Barlow" pitchFamily="34" charset="0"/>
                          <a:ea typeface="Barlow" pitchFamily="34" charset="-122"/>
                          <a:cs typeface="Barlow" pitchFamily="34" charset="-120"/>
                        </a:rPr>
                        <a:t>Modules 1 to 3: cloud concepts</a:t>
                      </a:r>
                      <a:endParaRPr lang="en-US" sz="1600" dirty="0">
                        <a:latin typeface="Barlow" charset="0"/>
                        <a:ea typeface="Barlow" charset="0"/>
                        <a:cs typeface="Barlow" charset="0"/>
                      </a:endParaRPr>
                    </a:p>
                  </a:txBody>
                  <a:tcPr marL="71120" marR="71120" marT="71120" marB="71120" anchor="t">
                    <a:lnL w="12700" cap="flat" cmpd="sng" algn="ctr">
                      <a:solidFill>
                        <a:srgbClr val="C8C5C6"/>
                      </a:solidFill>
                      <a:prstDash val="solid"/>
                      <a:round/>
                      <a:headEnd type="none" w="med" len="med"/>
                      <a:tailEnd type="none" w="med" len="med"/>
                    </a:lnL>
                    <a:lnR w="12700" cap="flat" cmpd="sng" algn="ctr">
                      <a:solidFill>
                        <a:srgbClr val="C8C5C6"/>
                      </a:solidFill>
                      <a:prstDash val="solid"/>
                      <a:round/>
                      <a:headEnd type="none" w="med" len="med"/>
                      <a:tailEnd type="none" w="med" len="med"/>
                    </a:lnR>
                    <a:lnT w="12700" cap="flat" cmpd="sng" algn="ctr">
                      <a:solidFill>
                        <a:srgbClr val="C8C5C6"/>
                      </a:solidFill>
                      <a:prstDash val="solid"/>
                      <a:round/>
                      <a:headEnd type="none" w="med" len="med"/>
                      <a:tailEnd type="none" w="med" len="med"/>
                    </a:lnT>
                    <a:lnB w="12700" cap="flat" cmpd="sng" algn="ctr">
                      <a:solidFill>
                        <a:srgbClr val="C8C5C6"/>
                      </a:solidFill>
                      <a:prstDash val="solid"/>
                      <a:round/>
                      <a:headEnd type="none" w="med" len="med"/>
                      <a:tailEnd type="none" w="med" len="med"/>
                    </a:lnB>
                  </a:tcPr>
                </a:tc>
              </a:tr>
              <a:tr h="439241">
                <a:tc>
                  <a:txBody>
                    <a:bodyPr/>
                    <a:lstStyle/>
                    <a:p>
                      <a:pPr indent="0" marL="0">
                        <a:lnSpc>
                          <a:spcPts val="2240"/>
                        </a:lnSpc>
                        <a:buNone/>
                      </a:pPr>
                      <a:r>
                        <a:rPr lang="en-US" sz="1600" dirty="0">
                          <a:solidFill>
                            <a:srgbClr val="1B1B1F"/>
                          </a:solidFill>
                          <a:latin typeface="Barlow" pitchFamily="34" charset="0"/>
                          <a:ea typeface="Barlow" pitchFamily="34" charset="-122"/>
                          <a:cs typeface="Barlow" pitchFamily="34" charset="-120"/>
                        </a:rPr>
                        <a:t>Then</a:t>
                      </a:r>
                      <a:endParaRPr lang="en-US" sz="1600" dirty="0">
                        <a:latin typeface="Barlow" charset="0"/>
                        <a:ea typeface="Barlow" charset="0"/>
                        <a:cs typeface="Barlow" charset="0"/>
                      </a:endParaRPr>
                    </a:p>
                  </a:txBody>
                  <a:tcPr marL="71120" marR="71120" marT="71120" marB="71120" anchor="t">
                    <a:lnL w="12700" cap="flat" cmpd="sng" algn="ctr">
                      <a:solidFill>
                        <a:srgbClr val="C8C5C6"/>
                      </a:solidFill>
                      <a:prstDash val="solid"/>
                      <a:round/>
                      <a:headEnd type="none" w="med" len="med"/>
                      <a:tailEnd type="none" w="med" len="med"/>
                    </a:lnL>
                    <a:lnR w="12700" cap="flat" cmpd="sng" algn="ctr">
                      <a:solidFill>
                        <a:srgbClr val="C8C5C6"/>
                      </a:solidFill>
                      <a:prstDash val="solid"/>
                      <a:round/>
                      <a:headEnd type="none" w="med" len="med"/>
                      <a:tailEnd type="none" w="med" len="med"/>
                    </a:lnR>
                    <a:lnT w="12700" cap="flat" cmpd="sng" algn="ctr">
                      <a:solidFill>
                        <a:srgbClr val="C8C5C6"/>
                      </a:solidFill>
                      <a:prstDash val="solid"/>
                      <a:round/>
                      <a:headEnd type="none" w="med" len="med"/>
                      <a:tailEnd type="none" w="med" len="med"/>
                    </a:lnT>
                    <a:lnB w="12700" cap="flat" cmpd="sng" algn="ctr">
                      <a:solidFill>
                        <a:srgbClr val="C8C5C6"/>
                      </a:solidFill>
                      <a:prstDash val="solid"/>
                      <a:round/>
                      <a:headEnd type="none" w="med" len="med"/>
                      <a:tailEnd type="none" w="med" len="med"/>
                    </a:lnB>
                  </a:tcPr>
                </a:tc>
                <a:tc>
                  <a:txBody>
                    <a:bodyPr/>
                    <a:lstStyle/>
                    <a:p>
                      <a:pPr indent="0" marL="0">
                        <a:lnSpc>
                          <a:spcPts val="2240"/>
                        </a:lnSpc>
                        <a:buNone/>
                      </a:pPr>
                      <a:r>
                        <a:rPr lang="en-US" sz="1600" dirty="0">
                          <a:solidFill>
                            <a:srgbClr val="1B1B1F"/>
                          </a:solidFill>
                          <a:latin typeface="Barlow" pitchFamily="34" charset="0"/>
                          <a:ea typeface="Barlow" pitchFamily="34" charset="-122"/>
                          <a:cs typeface="Barlow" pitchFamily="34" charset="-120"/>
                        </a:rPr>
                        <a:t>Modules 5 to 13: services, management and governance</a:t>
                      </a:r>
                      <a:endParaRPr lang="en-US" sz="1600" dirty="0">
                        <a:latin typeface="Barlow" charset="0"/>
                        <a:ea typeface="Barlow" charset="0"/>
                        <a:cs typeface="Barlow" charset="0"/>
                      </a:endParaRPr>
                    </a:p>
                  </a:txBody>
                  <a:tcPr marL="71120" marR="71120" marT="71120" marB="71120" anchor="t">
                    <a:lnL w="12700" cap="flat" cmpd="sng" algn="ctr">
                      <a:solidFill>
                        <a:srgbClr val="C8C5C6"/>
                      </a:solidFill>
                      <a:prstDash val="solid"/>
                      <a:round/>
                      <a:headEnd type="none" w="med" len="med"/>
                      <a:tailEnd type="none" w="med" len="med"/>
                    </a:lnL>
                    <a:lnR w="12700" cap="flat" cmpd="sng" algn="ctr">
                      <a:solidFill>
                        <a:srgbClr val="C8C5C6"/>
                      </a:solidFill>
                      <a:prstDash val="solid"/>
                      <a:round/>
                      <a:headEnd type="none" w="med" len="med"/>
                      <a:tailEnd type="none" w="med" len="med"/>
                    </a:lnR>
                    <a:lnT w="12700" cap="flat" cmpd="sng" algn="ctr">
                      <a:solidFill>
                        <a:srgbClr val="C8C5C6"/>
                      </a:solidFill>
                      <a:prstDash val="solid"/>
                      <a:round/>
                      <a:headEnd type="none" w="med" len="med"/>
                      <a:tailEnd type="none" w="med" len="med"/>
                    </a:lnT>
                    <a:lnB w="12700" cap="flat" cmpd="sng" algn="ctr">
                      <a:solidFill>
                        <a:srgbClr val="C8C5C6"/>
                      </a:solidFill>
                      <a:prstDash val="solid"/>
                      <a:round/>
                      <a:headEnd type="none" w="med" len="med"/>
                      <a:tailEnd type="none" w="med" len="med"/>
                    </a:lnB>
                  </a:tcPr>
                </a:tc>
              </a:tr>
              <a:tr h="439241">
                <a:tc>
                  <a:txBody>
                    <a:bodyPr/>
                    <a:lstStyle/>
                    <a:p>
                      <a:pPr indent="0" marL="0">
                        <a:lnSpc>
                          <a:spcPts val="2240"/>
                        </a:lnSpc>
                        <a:buNone/>
                      </a:pPr>
                      <a:r>
                        <a:rPr lang="en-US" sz="1600" dirty="0">
                          <a:solidFill>
                            <a:srgbClr val="1B1B1F"/>
                          </a:solidFill>
                          <a:latin typeface="Barlow" pitchFamily="34" charset="0"/>
                          <a:ea typeface="Barlow" pitchFamily="34" charset="-122"/>
                          <a:cs typeface="Barlow" pitchFamily="34" charset="-120"/>
                        </a:rPr>
                        <a:t>Later</a:t>
                      </a:r>
                      <a:endParaRPr lang="en-US" sz="1600" dirty="0">
                        <a:latin typeface="Barlow" charset="0"/>
                        <a:ea typeface="Barlow" charset="0"/>
                        <a:cs typeface="Barlow" charset="0"/>
                      </a:endParaRPr>
                    </a:p>
                  </a:txBody>
                  <a:tcPr marL="71120" marR="71120" marT="71120" marB="71120" anchor="t">
                    <a:lnL w="12700" cap="flat" cmpd="sng" algn="ctr">
                      <a:solidFill>
                        <a:srgbClr val="C8C5C6"/>
                      </a:solidFill>
                      <a:prstDash val="solid"/>
                      <a:round/>
                      <a:headEnd type="none" w="med" len="med"/>
                      <a:tailEnd type="none" w="med" len="med"/>
                    </a:lnL>
                    <a:lnR w="12700" cap="flat" cmpd="sng" algn="ctr">
                      <a:solidFill>
                        <a:srgbClr val="C8C5C6"/>
                      </a:solidFill>
                      <a:prstDash val="solid"/>
                      <a:round/>
                      <a:headEnd type="none" w="med" len="med"/>
                      <a:tailEnd type="none" w="med" len="med"/>
                    </a:lnR>
                    <a:lnT w="12700" cap="flat" cmpd="sng" algn="ctr">
                      <a:solidFill>
                        <a:srgbClr val="C8C5C6"/>
                      </a:solidFill>
                      <a:prstDash val="solid"/>
                      <a:round/>
                      <a:headEnd type="none" w="med" len="med"/>
                      <a:tailEnd type="none" w="med" len="med"/>
                    </a:lnT>
                    <a:lnB w="12700" cap="flat" cmpd="sng" algn="ctr">
                      <a:solidFill>
                        <a:srgbClr val="C8C5C6"/>
                      </a:solidFill>
                      <a:prstDash val="solid"/>
                      <a:round/>
                      <a:headEnd type="none" w="med" len="med"/>
                      <a:tailEnd type="none" w="med" len="med"/>
                    </a:lnB>
                  </a:tcPr>
                </a:tc>
                <a:tc>
                  <a:txBody>
                    <a:bodyPr/>
                    <a:lstStyle/>
                    <a:p>
                      <a:pPr indent="0" marL="0">
                        <a:lnSpc>
                          <a:spcPts val="2240"/>
                        </a:lnSpc>
                        <a:buNone/>
                      </a:pPr>
                      <a:r>
                        <a:rPr lang="en-US" sz="1600" dirty="0">
                          <a:solidFill>
                            <a:srgbClr val="1B1B1F"/>
                          </a:solidFill>
                          <a:latin typeface="Barlow" pitchFamily="34" charset="0"/>
                          <a:ea typeface="Barlow" pitchFamily="34" charset="-122"/>
                          <a:cs typeface="Barlow" pitchFamily="34" charset="-120"/>
                        </a:rPr>
                        <a:t>Weak-spots quiz and flashcard revision</a:t>
                      </a:r>
                      <a:endParaRPr lang="en-US" sz="1600" dirty="0">
                        <a:latin typeface="Barlow" charset="0"/>
                        <a:ea typeface="Barlow" charset="0"/>
                        <a:cs typeface="Barlow" charset="0"/>
                      </a:endParaRPr>
                    </a:p>
                  </a:txBody>
                  <a:tcPr marL="71120" marR="71120" marT="71120" marB="71120" anchor="t">
                    <a:lnL w="12700" cap="flat" cmpd="sng" algn="ctr">
                      <a:solidFill>
                        <a:srgbClr val="C8C5C6"/>
                      </a:solidFill>
                      <a:prstDash val="solid"/>
                      <a:round/>
                      <a:headEnd type="none" w="med" len="med"/>
                      <a:tailEnd type="none" w="med" len="med"/>
                    </a:lnL>
                    <a:lnR w="12700" cap="flat" cmpd="sng" algn="ctr">
                      <a:solidFill>
                        <a:srgbClr val="C8C5C6"/>
                      </a:solidFill>
                      <a:prstDash val="solid"/>
                      <a:round/>
                      <a:headEnd type="none" w="med" len="med"/>
                      <a:tailEnd type="none" w="med" len="med"/>
                    </a:lnR>
                    <a:lnT w="12700" cap="flat" cmpd="sng" algn="ctr">
                      <a:solidFill>
                        <a:srgbClr val="C8C5C6"/>
                      </a:solidFill>
                      <a:prstDash val="solid"/>
                      <a:round/>
                      <a:headEnd type="none" w="med" len="med"/>
                      <a:tailEnd type="none" w="med" len="med"/>
                    </a:lnT>
                    <a:lnB w="12700" cap="flat" cmpd="sng" algn="ctr">
                      <a:solidFill>
                        <a:srgbClr val="C8C5C6"/>
                      </a:solidFill>
                      <a:prstDash val="solid"/>
                      <a:round/>
                      <a:headEnd type="none" w="med" len="med"/>
                      <a:tailEnd type="none" w="med" len="med"/>
                    </a:lnB>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BF7F9"/>
        </a:solidFill>
      </p:bgPr>
    </p:bg>
    <p:spTree>
      <p:nvGrpSpPr>
        <p:cNvPr id="1" name=""/>
        <p:cNvGrpSpPr/>
        <p:nvPr/>
      </p:nvGrpSpPr>
      <p:grpSpPr>
        <a:xfrm>
          <a:off x="0" y="0"/>
          <a:ext cx="0" cy="0"/>
          <a:chOff x="0" y="0"/>
          <a:chExt cx="0" cy="0"/>
        </a:xfrm>
      </p:grpSpPr>
      <p:sp>
        <p:nvSpPr>
          <p:cNvPr id="2" name="Shape 0"/>
          <p:cNvSpPr/>
          <p:nvPr/>
        </p:nvSpPr>
        <p:spPr>
          <a:xfrm>
            <a:off x="0" y="0"/>
            <a:ext cx="254000" cy="6858000"/>
          </a:xfrm>
          <a:prstGeom prst="rect">
            <a:avLst/>
          </a:prstGeom>
          <a:solidFill>
            <a:srgbClr val="8D103D"/>
          </a:solidFill>
          <a:ln/>
        </p:spPr>
      </p:sp>
      <p:sp>
        <p:nvSpPr>
          <p:cNvPr id="3" name="Text 1"/>
          <p:cNvSpPr/>
          <p:nvPr>
            <p:ph type="title"/>
          </p:nvPr>
        </p:nvSpPr>
        <p:spPr>
          <a:xfrm>
            <a:off x="812800" y="812800"/>
            <a:ext cx="10883392" cy="584200"/>
          </a:xfrm>
          <a:prstGeom prst="rect">
            <a:avLst/>
          </a:prstGeom>
          <a:noFill/>
          <a:ln/>
        </p:spPr>
        <p:txBody>
          <a:bodyPr wrap="square" lIns="0" tIns="0" rIns="0" bIns="0" rtlCol="0" anchor="t">
            <a:normAutofit/>
          </a:bodyPr>
          <a:lstStyle/>
          <a:p>
            <a:pPr algn="l" indent="0" marL="0">
              <a:lnSpc>
                <a:spcPts val="4400"/>
              </a:lnSpc>
              <a:buNone/>
            </a:pPr>
            <a:r>
              <a:rPr lang="en-US" sz="4000" b="1" i="0" dirty="0">
                <a:solidFill>
                  <a:srgbClr val="0A7F87"/>
                </a:solidFill>
                <a:latin typeface="Barlow" pitchFamily="34" charset="0"/>
                <a:ea typeface="Barlow" pitchFamily="34" charset="-122"/>
                <a:cs typeface="Barlow" pitchFamily="34" charset="-120"/>
              </a:rPr>
              <a:t>Reaching learners</a:t>
            </a:r>
            <a:endParaRPr lang="en-US" sz="4000" dirty="0"/>
          </a:p>
        </p:txBody>
      </p:sp>
      <p:sp>
        <p:nvSpPr>
          <p:cNvPr id="4" name="Text 2"/>
          <p:cNvSpPr/>
          <p:nvPr/>
        </p:nvSpPr>
        <p:spPr>
          <a:xfrm>
            <a:off x="842010" y="1676400"/>
            <a:ext cx="10846562" cy="1447800"/>
          </a:xfrm>
          <a:prstGeom prst="rect">
            <a:avLst/>
          </a:prstGeom>
          <a:noFill/>
          <a:ln/>
        </p:spPr>
        <p:txBody>
          <a:bodyPr wrap="square" lIns="0" tIns="0" rIns="0" bIns="0" rtlCol="0" anchor="t">
            <a:normAutofit/>
          </a:bodyPr>
          <a:lstStyle/>
          <a:p>
            <a:pPr algn="l" marL="224790" indent="-224790">
              <a:lnSpc>
                <a:spcPts val="2800"/>
              </a:lnSpc>
              <a:buSzPct val="100000"/>
              <a:buChar char="•"/>
            </a:pPr>
            <a:r>
              <a:rPr lang="en-US" sz="2000" dirty="0">
                <a:solidFill>
                  <a:srgbClr val="1B1B1F"/>
                </a:solidFill>
                <a:latin typeface="Barlow" pitchFamily="34" charset="0"/>
                <a:ea typeface="Barlow" pitchFamily="34" charset="-122"/>
                <a:cs typeface="Barlow" pitchFamily="34" charset="-120"/>
              </a:rPr>
              <a:t>Share with ICT hubs, polytechnics and colleges in Kenya</a:t>
            </a:r>
            <a:endParaRPr lang="en-US" sz="2000" dirty="0"/>
          </a:p>
          <a:p>
            <a:pPr algn="l" marL="224790" indent="-224790">
              <a:lnSpc>
                <a:spcPts val="2800"/>
              </a:lnSpc>
              <a:buSzPct val="100000"/>
              <a:buChar char="•"/>
            </a:pPr>
            <a:r>
              <a:rPr lang="en-US" sz="2000" dirty="0">
                <a:solidFill>
                  <a:srgbClr val="1B1B1F"/>
                </a:solidFill>
                <a:latin typeface="Barlow" pitchFamily="34" charset="0"/>
                <a:ea typeface="Barlow" pitchFamily="34" charset="-122"/>
                <a:cs typeface="Barlow" pitchFamily="34" charset="-120"/>
              </a:rPr>
              <a:t>Post module notes and sample questions in study groups and on LinkedIn</a:t>
            </a:r>
            <a:endParaRPr lang="en-US" sz="2000" dirty="0"/>
          </a:p>
          <a:p>
            <a:pPr algn="l" marL="224790" indent="-224790">
              <a:lnSpc>
                <a:spcPts val="2800"/>
              </a:lnSpc>
              <a:buSzPct val="100000"/>
              <a:buChar char="•"/>
            </a:pPr>
            <a:r>
              <a:rPr lang="en-US" sz="2000" dirty="0">
                <a:solidFill>
                  <a:srgbClr val="1B1B1F"/>
                </a:solidFill>
                <a:latin typeface="Barlow" pitchFamily="34" charset="0"/>
                <a:ea typeface="Barlow" pitchFamily="34" charset="-122"/>
                <a:cs typeface="Barlow" pitchFamily="34" charset="-120"/>
              </a:rPr>
              <a:t>Ask early learners for feedback after every module</a:t>
            </a:r>
            <a:endParaRPr lang="en-US" sz="2000" dirty="0"/>
          </a:p>
          <a:p>
            <a:pPr algn="l" marL="224790" indent="-224790">
              <a:lnSpc>
                <a:spcPts val="2800"/>
              </a:lnSpc>
              <a:buSzPct val="100000"/>
              <a:buChar char="•"/>
            </a:pPr>
            <a:r>
              <a:rPr lang="en-US" sz="2000" dirty="0">
                <a:solidFill>
                  <a:srgbClr val="1B1B1F"/>
                </a:solidFill>
                <a:latin typeface="Barlow" pitchFamily="34" charset="0"/>
                <a:ea typeface="Barlow" pitchFamily="34" charset="-122"/>
                <a:cs typeface="Barlow" pitchFamily="34" charset="-120"/>
              </a:rPr>
              <a:t>Keep it free and light so cost and data are not barriers</a:t>
            </a:r>
            <a:endParaRPr lang="en-US" sz="2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BF7F9"/>
        </a:solidFill>
      </p:bgPr>
    </p:bg>
    <p:spTree>
      <p:nvGrpSpPr>
        <p:cNvPr id="1" name=""/>
        <p:cNvGrpSpPr/>
        <p:nvPr/>
      </p:nvGrpSpPr>
      <p:grpSpPr>
        <a:xfrm>
          <a:off x="0" y="0"/>
          <a:ext cx="0" cy="0"/>
          <a:chOff x="0" y="0"/>
          <a:chExt cx="0" cy="0"/>
        </a:xfrm>
      </p:grpSpPr>
      <p:sp>
        <p:nvSpPr>
          <p:cNvPr id="2" name="Shape 0"/>
          <p:cNvSpPr/>
          <p:nvPr/>
        </p:nvSpPr>
        <p:spPr>
          <a:xfrm>
            <a:off x="0" y="0"/>
            <a:ext cx="254000" cy="6858000"/>
          </a:xfrm>
          <a:prstGeom prst="rect">
            <a:avLst/>
          </a:prstGeom>
          <a:solidFill>
            <a:srgbClr val="8D103D"/>
          </a:solidFill>
          <a:ln/>
        </p:spPr>
      </p:sp>
      <p:sp>
        <p:nvSpPr>
          <p:cNvPr id="3" name="Text 1"/>
          <p:cNvSpPr/>
          <p:nvPr>
            <p:ph type="title"/>
          </p:nvPr>
        </p:nvSpPr>
        <p:spPr>
          <a:xfrm>
            <a:off x="812800" y="812800"/>
            <a:ext cx="10883392" cy="584200"/>
          </a:xfrm>
          <a:prstGeom prst="rect">
            <a:avLst/>
          </a:prstGeom>
          <a:noFill/>
          <a:ln/>
        </p:spPr>
        <p:txBody>
          <a:bodyPr wrap="square" lIns="0" tIns="0" rIns="0" bIns="0" rtlCol="0" anchor="t">
            <a:normAutofit/>
          </a:bodyPr>
          <a:lstStyle/>
          <a:p>
            <a:pPr algn="l" indent="0" marL="0">
              <a:lnSpc>
                <a:spcPts val="4400"/>
              </a:lnSpc>
              <a:buNone/>
            </a:pPr>
            <a:r>
              <a:rPr lang="en-US" sz="4000" b="1" i="0" dirty="0">
                <a:solidFill>
                  <a:srgbClr val="0A7F87"/>
                </a:solidFill>
                <a:latin typeface="Barlow" pitchFamily="34" charset="0"/>
                <a:ea typeface="Barlow" pitchFamily="34" charset="-122"/>
                <a:cs typeface="Barlow" pitchFamily="34" charset="-120"/>
              </a:rPr>
              <a:t>Social impact</a:t>
            </a:r>
            <a:endParaRPr lang="en-US" sz="4000" dirty="0"/>
          </a:p>
        </p:txBody>
      </p:sp>
      <p:sp>
        <p:nvSpPr>
          <p:cNvPr id="4" name="Shape 2"/>
          <p:cNvSpPr/>
          <p:nvPr/>
        </p:nvSpPr>
        <p:spPr>
          <a:xfrm>
            <a:off x="812800" y="1676400"/>
            <a:ext cx="3386634" cy="1797050"/>
          </a:xfrm>
          <a:prstGeom prst="rect">
            <a:avLst/>
          </a:prstGeom>
          <a:solidFill>
            <a:srgbClr val="FFFFFF"/>
          </a:solidFill>
          <a:ln/>
        </p:spPr>
      </p:sp>
      <p:sp>
        <p:nvSpPr>
          <p:cNvPr id="5" name="Shape 3"/>
          <p:cNvSpPr/>
          <p:nvPr/>
        </p:nvSpPr>
        <p:spPr>
          <a:xfrm>
            <a:off x="812800" y="1708150"/>
            <a:ext cx="3386634" cy="0"/>
          </a:xfrm>
          <a:prstGeom prst="line">
            <a:avLst/>
          </a:prstGeom>
          <a:noFill/>
          <a:ln w="63500">
            <a:solidFill>
              <a:srgbClr val="0A7F87"/>
            </a:solidFill>
            <a:prstDash val="solid"/>
          </a:ln>
        </p:spPr>
      </p:sp>
      <p:sp>
        <p:nvSpPr>
          <p:cNvPr id="6" name="Text 4"/>
          <p:cNvSpPr/>
          <p:nvPr/>
        </p:nvSpPr>
        <p:spPr>
          <a:xfrm>
            <a:off x="1066800" y="1993900"/>
            <a:ext cx="2964993"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B1B1F"/>
                </a:solidFill>
                <a:latin typeface="Barlow" pitchFamily="34" charset="0"/>
                <a:ea typeface="Barlow" pitchFamily="34" charset="-122"/>
                <a:cs typeface="Barlow" pitchFamily="34" charset="-120"/>
              </a:rPr>
              <a:t>SDG 4: Quality Education</a:t>
            </a:r>
            <a:endParaRPr lang="en-US" sz="2000" dirty="0"/>
          </a:p>
        </p:txBody>
      </p:sp>
      <p:sp>
        <p:nvSpPr>
          <p:cNvPr id="7" name="Text 5"/>
          <p:cNvSpPr/>
          <p:nvPr/>
        </p:nvSpPr>
        <p:spPr>
          <a:xfrm>
            <a:off x="1066800" y="2400300"/>
            <a:ext cx="2964993" cy="79692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4D4D57"/>
                </a:solidFill>
                <a:latin typeface="Barlow" pitchFamily="34" charset="0"/>
                <a:ea typeface="Barlow" pitchFamily="34" charset="-122"/>
                <a:cs typeface="Barlow" pitchFamily="34" charset="-120"/>
              </a:rPr>
              <a:t>Free, clear explanations help learners build job-ready cloud skills.</a:t>
            </a:r>
            <a:endParaRPr lang="en-US" sz="1500" dirty="0"/>
          </a:p>
        </p:txBody>
      </p:sp>
      <p:sp>
        <p:nvSpPr>
          <p:cNvPr id="8" name="Shape 6"/>
          <p:cNvSpPr/>
          <p:nvPr/>
        </p:nvSpPr>
        <p:spPr>
          <a:xfrm>
            <a:off x="4402634" y="1676400"/>
            <a:ext cx="3386733" cy="1797050"/>
          </a:xfrm>
          <a:prstGeom prst="rect">
            <a:avLst/>
          </a:prstGeom>
          <a:solidFill>
            <a:srgbClr val="FFFFFF"/>
          </a:solidFill>
          <a:ln/>
        </p:spPr>
      </p:sp>
      <p:sp>
        <p:nvSpPr>
          <p:cNvPr id="9" name="Shape 7"/>
          <p:cNvSpPr/>
          <p:nvPr/>
        </p:nvSpPr>
        <p:spPr>
          <a:xfrm>
            <a:off x="4402634" y="1708150"/>
            <a:ext cx="3386733" cy="0"/>
          </a:xfrm>
          <a:prstGeom prst="line">
            <a:avLst/>
          </a:prstGeom>
          <a:noFill/>
          <a:ln w="63500">
            <a:solidFill>
              <a:srgbClr val="8D103D"/>
            </a:solidFill>
            <a:prstDash val="solid"/>
          </a:ln>
        </p:spPr>
      </p:sp>
      <p:sp>
        <p:nvSpPr>
          <p:cNvPr id="10" name="Text 8"/>
          <p:cNvSpPr/>
          <p:nvPr/>
        </p:nvSpPr>
        <p:spPr>
          <a:xfrm>
            <a:off x="4656634" y="1993900"/>
            <a:ext cx="2965095" cy="6350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B1B1F"/>
                </a:solidFill>
                <a:latin typeface="Barlow" pitchFamily="34" charset="0"/>
                <a:ea typeface="Barlow" pitchFamily="34" charset="-122"/>
                <a:cs typeface="Barlow" pitchFamily="34" charset="-120"/>
              </a:rPr>
              <a:t>SDG 8: Decent Work and Economic Growth</a:t>
            </a:r>
            <a:endParaRPr lang="en-US" sz="2000" dirty="0"/>
          </a:p>
        </p:txBody>
      </p:sp>
      <p:sp>
        <p:nvSpPr>
          <p:cNvPr id="11" name="Text 9"/>
          <p:cNvSpPr/>
          <p:nvPr/>
        </p:nvSpPr>
        <p:spPr>
          <a:xfrm>
            <a:off x="4656634" y="2705100"/>
            <a:ext cx="2965095"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4D4D57"/>
                </a:solidFill>
                <a:latin typeface="Barlow" pitchFamily="34" charset="0"/>
                <a:ea typeface="Barlow" pitchFamily="34" charset="-122"/>
                <a:cs typeface="Barlow" pitchFamily="34" charset="-120"/>
              </a:rPr>
              <a:t>A recognised Azure credential supports employability.</a:t>
            </a:r>
            <a:endParaRPr lang="en-US" sz="1500" dirty="0"/>
          </a:p>
        </p:txBody>
      </p:sp>
      <p:sp>
        <p:nvSpPr>
          <p:cNvPr id="12" name="Shape 10"/>
          <p:cNvSpPr/>
          <p:nvPr/>
        </p:nvSpPr>
        <p:spPr>
          <a:xfrm>
            <a:off x="7992566" y="1676400"/>
            <a:ext cx="3386634" cy="1797050"/>
          </a:xfrm>
          <a:prstGeom prst="rect">
            <a:avLst/>
          </a:prstGeom>
          <a:solidFill>
            <a:srgbClr val="FFFFFF"/>
          </a:solidFill>
          <a:ln/>
        </p:spPr>
      </p:sp>
      <p:sp>
        <p:nvSpPr>
          <p:cNvPr id="13" name="Shape 11"/>
          <p:cNvSpPr/>
          <p:nvPr/>
        </p:nvSpPr>
        <p:spPr>
          <a:xfrm>
            <a:off x="7992566" y="1708150"/>
            <a:ext cx="3386634" cy="0"/>
          </a:xfrm>
          <a:prstGeom prst="line">
            <a:avLst/>
          </a:prstGeom>
          <a:noFill/>
          <a:ln w="63500">
            <a:solidFill>
              <a:srgbClr val="0A7F87"/>
            </a:solidFill>
            <a:prstDash val="solid"/>
          </a:ln>
        </p:spPr>
      </p:sp>
      <p:sp>
        <p:nvSpPr>
          <p:cNvPr id="14" name="Text 12"/>
          <p:cNvSpPr/>
          <p:nvPr/>
        </p:nvSpPr>
        <p:spPr>
          <a:xfrm>
            <a:off x="8246566" y="1993900"/>
            <a:ext cx="2964993" cy="6350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B1B1F"/>
                </a:solidFill>
                <a:latin typeface="Barlow" pitchFamily="34" charset="0"/>
                <a:ea typeface="Barlow" pitchFamily="34" charset="-122"/>
                <a:cs typeface="Barlow" pitchFamily="34" charset="-120"/>
              </a:rPr>
              <a:t>SDG 10: Reduced Inequalities</a:t>
            </a:r>
            <a:endParaRPr lang="en-US" sz="2000" dirty="0"/>
          </a:p>
        </p:txBody>
      </p:sp>
      <p:sp>
        <p:nvSpPr>
          <p:cNvPr id="15" name="Text 13"/>
          <p:cNvSpPr/>
          <p:nvPr/>
        </p:nvSpPr>
        <p:spPr>
          <a:xfrm>
            <a:off x="8246566" y="2705100"/>
            <a:ext cx="2964993"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4D4D57"/>
                </a:solidFill>
                <a:latin typeface="Barlow" pitchFamily="34" charset="0"/>
                <a:ea typeface="Barlow" pitchFamily="34" charset="-122"/>
                <a:cs typeface="Barlow" pitchFamily="34" charset="-120"/>
              </a:rPr>
              <a:t>No login, no fees and light pages widen access.</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BF7F9"/>
        </a:solidFill>
      </p:bgPr>
    </p:bg>
    <p:spTree>
      <p:nvGrpSpPr>
        <p:cNvPr id="1" name=""/>
        <p:cNvGrpSpPr/>
        <p:nvPr/>
      </p:nvGrpSpPr>
      <p:grpSpPr>
        <a:xfrm>
          <a:off x="0" y="0"/>
          <a:ext cx="0" cy="0"/>
          <a:chOff x="0" y="0"/>
          <a:chExt cx="0" cy="0"/>
        </a:xfrm>
      </p:grpSpPr>
      <p:sp>
        <p:nvSpPr>
          <p:cNvPr id="2" name="Shape 0"/>
          <p:cNvSpPr/>
          <p:nvPr/>
        </p:nvSpPr>
        <p:spPr>
          <a:xfrm>
            <a:off x="0" y="0"/>
            <a:ext cx="254000" cy="6858000"/>
          </a:xfrm>
          <a:prstGeom prst="rect">
            <a:avLst/>
          </a:prstGeom>
          <a:solidFill>
            <a:srgbClr val="8D103D"/>
          </a:solidFill>
          <a:ln/>
        </p:spPr>
      </p:sp>
      <p:sp>
        <p:nvSpPr>
          <p:cNvPr id="3" name="Text 1"/>
          <p:cNvSpPr/>
          <p:nvPr>
            <p:ph type="title"/>
          </p:nvPr>
        </p:nvSpPr>
        <p:spPr>
          <a:xfrm>
            <a:off x="812800" y="812800"/>
            <a:ext cx="10883392" cy="584200"/>
          </a:xfrm>
          <a:prstGeom prst="rect">
            <a:avLst/>
          </a:prstGeom>
          <a:noFill/>
          <a:ln/>
        </p:spPr>
        <p:txBody>
          <a:bodyPr wrap="square" lIns="0" tIns="0" rIns="0" bIns="0" rtlCol="0" anchor="t">
            <a:normAutofit/>
          </a:bodyPr>
          <a:lstStyle/>
          <a:p>
            <a:pPr algn="l" indent="0" marL="0">
              <a:lnSpc>
                <a:spcPts val="4400"/>
              </a:lnSpc>
              <a:buNone/>
            </a:pPr>
            <a:r>
              <a:rPr lang="en-US" sz="4000" b="1" i="0" dirty="0">
                <a:solidFill>
                  <a:srgbClr val="0A7F87"/>
                </a:solidFill>
                <a:latin typeface="Barlow" pitchFamily="34" charset="0"/>
                <a:ea typeface="Barlow" pitchFamily="34" charset="-122"/>
                <a:cs typeface="Barlow" pitchFamily="34" charset="-120"/>
              </a:rPr>
              <a:t>Our ask</a:t>
            </a:r>
            <a:endParaRPr lang="en-US" sz="4000" dirty="0"/>
          </a:p>
        </p:txBody>
      </p:sp>
      <p:sp>
        <p:nvSpPr>
          <p:cNvPr id="4" name="Text 2"/>
          <p:cNvSpPr/>
          <p:nvPr/>
        </p:nvSpPr>
        <p:spPr>
          <a:xfrm>
            <a:off x="842010" y="1676400"/>
            <a:ext cx="10846562" cy="1447800"/>
          </a:xfrm>
          <a:prstGeom prst="rect">
            <a:avLst/>
          </a:prstGeom>
          <a:noFill/>
          <a:ln/>
        </p:spPr>
        <p:txBody>
          <a:bodyPr wrap="square" lIns="0" tIns="0" rIns="0" bIns="0" rtlCol="0" anchor="t">
            <a:normAutofit/>
          </a:bodyPr>
          <a:lstStyle/>
          <a:p>
            <a:pPr algn="l" marL="224790" indent="-224790">
              <a:lnSpc>
                <a:spcPts val="2800"/>
              </a:lnSpc>
              <a:buSzPct val="100000"/>
              <a:buChar char="•"/>
            </a:pPr>
            <a:r>
              <a:rPr lang="en-US" sz="2000" dirty="0">
                <a:solidFill>
                  <a:srgbClr val="1B1B1F"/>
                </a:solidFill>
                <a:latin typeface="Barlow" pitchFamily="34" charset="0"/>
                <a:ea typeface="Barlow" pitchFamily="34" charset="-122"/>
                <a:cs typeface="Barlow" pitchFamily="34" charset="-120"/>
              </a:rPr>
              <a:t>Feedback from learners and mentors on the first module</a:t>
            </a:r>
            <a:endParaRPr lang="en-US" sz="2000" dirty="0"/>
          </a:p>
          <a:p>
            <a:pPr algn="l" marL="224790" indent="-224790">
              <a:lnSpc>
                <a:spcPts val="2800"/>
              </a:lnSpc>
              <a:buSzPct val="100000"/>
              <a:buChar char="•"/>
            </a:pPr>
            <a:r>
              <a:rPr lang="en-US" sz="2000" dirty="0">
                <a:solidFill>
                  <a:srgbClr val="1B1B1F"/>
                </a:solidFill>
                <a:latin typeface="Barlow" pitchFamily="34" charset="0"/>
                <a:ea typeface="Barlow" pitchFamily="34" charset="-122"/>
                <a:cs typeface="Barlow" pitchFamily="34" charset="-120"/>
              </a:rPr>
              <a:t>A review of the questions by an Azure-certified professional</a:t>
            </a:r>
            <a:endParaRPr lang="en-US" sz="2000" dirty="0"/>
          </a:p>
          <a:p>
            <a:pPr algn="l" marL="224790" indent="-224790">
              <a:lnSpc>
                <a:spcPts val="2800"/>
              </a:lnSpc>
              <a:buSzPct val="100000"/>
              <a:buChar char="•"/>
            </a:pPr>
            <a:r>
              <a:rPr lang="en-US" sz="2000" dirty="0">
                <a:solidFill>
                  <a:srgbClr val="1B1B1F"/>
                </a:solidFill>
                <a:latin typeface="Barlow" pitchFamily="34" charset="0"/>
                <a:ea typeface="Barlow" pitchFamily="34" charset="-122"/>
                <a:cs typeface="Barlow" pitchFamily="34" charset="-120"/>
              </a:rPr>
              <a:t>Hosting support or Azure credits to run the site</a:t>
            </a:r>
            <a:endParaRPr lang="en-US" sz="2000" dirty="0"/>
          </a:p>
          <a:p>
            <a:pPr algn="l" marL="224790" indent="-224790">
              <a:lnSpc>
                <a:spcPts val="2800"/>
              </a:lnSpc>
              <a:buSzPct val="100000"/>
              <a:buChar char="•"/>
            </a:pPr>
            <a:r>
              <a:rPr lang="en-US" sz="2000" dirty="0">
                <a:solidFill>
                  <a:srgbClr val="1B1B1F"/>
                </a:solidFill>
                <a:latin typeface="Barlow" pitchFamily="34" charset="0"/>
                <a:ea typeface="Barlow" pitchFamily="34" charset="-122"/>
                <a:cs typeface="Barlow" pitchFamily="34" charset="-120"/>
              </a:rPr>
              <a:t>Pilot groups of real AZ-900 candidates</a:t>
            </a:r>
            <a:endParaRPr lang="en-US" sz="2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BF7F9"/>
        </a:solidFill>
      </p:bgPr>
    </p:bg>
    <p:spTree>
      <p:nvGrpSpPr>
        <p:cNvPr id="1" name=""/>
        <p:cNvGrpSpPr/>
        <p:nvPr/>
      </p:nvGrpSpPr>
      <p:grpSpPr>
        <a:xfrm>
          <a:off x="0" y="0"/>
          <a:ext cx="0" cy="0"/>
          <a:chOff x="0" y="0"/>
          <a:chExt cx="0" cy="0"/>
        </a:xfrm>
      </p:grpSpPr>
      <p:sp>
        <p:nvSpPr>
          <p:cNvPr id="2" name="Shape 0"/>
          <p:cNvSpPr/>
          <p:nvPr/>
        </p:nvSpPr>
        <p:spPr>
          <a:xfrm>
            <a:off x="0" y="0"/>
            <a:ext cx="254000" cy="6858000"/>
          </a:xfrm>
          <a:prstGeom prst="rect">
            <a:avLst/>
          </a:prstGeom>
          <a:solidFill>
            <a:srgbClr val="8D103D"/>
          </a:solidFill>
          <a:ln/>
        </p:spPr>
      </p:sp>
      <p:sp>
        <p:nvSpPr>
          <p:cNvPr id="3" name="Text 1"/>
          <p:cNvSpPr/>
          <p:nvPr>
            <p:ph type="title"/>
          </p:nvPr>
        </p:nvSpPr>
        <p:spPr>
          <a:xfrm>
            <a:off x="812800" y="812800"/>
            <a:ext cx="10883392" cy="584200"/>
          </a:xfrm>
          <a:prstGeom prst="rect">
            <a:avLst/>
          </a:prstGeom>
          <a:noFill/>
          <a:ln/>
        </p:spPr>
        <p:txBody>
          <a:bodyPr wrap="square" lIns="0" tIns="0" rIns="0" bIns="0" rtlCol="0" anchor="t">
            <a:normAutofit/>
          </a:bodyPr>
          <a:lstStyle/>
          <a:p>
            <a:pPr algn="l" indent="0" marL="0">
              <a:lnSpc>
                <a:spcPts val="4400"/>
              </a:lnSpc>
              <a:buNone/>
            </a:pPr>
            <a:r>
              <a:rPr lang="en-US" sz="4000" b="1" i="0" dirty="0">
                <a:solidFill>
                  <a:srgbClr val="0A7F87"/>
                </a:solidFill>
                <a:latin typeface="Barlow" pitchFamily="34" charset="0"/>
                <a:ea typeface="Barlow" pitchFamily="34" charset="-122"/>
                <a:cs typeface="Barlow" pitchFamily="34" charset="-120"/>
              </a:rPr>
              <a:t>The team</a:t>
            </a:r>
            <a:endParaRPr lang="en-US" sz="4000" dirty="0"/>
          </a:p>
        </p:txBody>
      </p:sp>
      <p:sp>
        <p:nvSpPr>
          <p:cNvPr id="4" name="Text 2"/>
          <p:cNvSpPr/>
          <p:nvPr/>
        </p:nvSpPr>
        <p:spPr>
          <a:xfrm>
            <a:off x="812800" y="1676400"/>
            <a:ext cx="1524000" cy="1524000"/>
          </a:xfrm>
          <a:prstGeom prst="roundRect">
            <a:avLst>
              <a:gd name="adj" fmla="val 50000"/>
            </a:avLst>
          </a:prstGeom>
          <a:solidFill>
            <a:srgbClr val="8D103D"/>
          </a:solidFill>
          <a:ln/>
        </p:spPr>
        <p:txBody>
          <a:bodyPr wrap="square" lIns="0" tIns="0" rIns="0" bIns="0" rtlCol="0" anchor="ctr">
            <a:normAutofit/>
          </a:bodyPr>
          <a:lstStyle/>
          <a:p>
            <a:pPr algn="ctr" indent="0" marL="0">
              <a:lnSpc>
                <a:spcPts val="6160"/>
              </a:lnSpc>
              <a:buNone/>
            </a:pPr>
            <a:r>
              <a:rPr lang="en-US" sz="4400" b="1" dirty="0">
                <a:solidFill>
                  <a:srgbClr val="FFFFFF"/>
                </a:solidFill>
                <a:latin typeface="Barlow" pitchFamily="34" charset="0"/>
                <a:ea typeface="Barlow" pitchFamily="34" charset="-122"/>
                <a:cs typeface="Barlow" pitchFamily="34" charset="-120"/>
              </a:rPr>
              <a:t>DM</a:t>
            </a:r>
            <a:endParaRPr lang="en-US" sz="4400" dirty="0"/>
          </a:p>
        </p:txBody>
      </p:sp>
      <p:sp>
        <p:nvSpPr>
          <p:cNvPr id="5" name="Text 3"/>
          <p:cNvSpPr/>
          <p:nvPr/>
        </p:nvSpPr>
        <p:spPr>
          <a:xfrm>
            <a:off x="2692400" y="1984970"/>
            <a:ext cx="4813935" cy="513060"/>
          </a:xfrm>
          <a:prstGeom prst="rect">
            <a:avLst/>
          </a:prstGeom>
          <a:noFill/>
          <a:ln/>
        </p:spPr>
        <p:txBody>
          <a:bodyPr wrap="square" lIns="0" tIns="0" rIns="0" bIns="0" rtlCol="0" anchor="t">
            <a:normAutofit/>
          </a:bodyPr>
          <a:lstStyle/>
          <a:p>
            <a:pPr algn="l" indent="0" marL="0">
              <a:lnSpc>
                <a:spcPts val="3840"/>
              </a:lnSpc>
              <a:buNone/>
            </a:pPr>
            <a:r>
              <a:rPr lang="en-US" sz="3200" b="1" dirty="0">
                <a:solidFill>
                  <a:srgbClr val="8D103D"/>
                </a:solidFill>
                <a:latin typeface="Barlow" pitchFamily="34" charset="0"/>
                <a:ea typeface="Barlow" pitchFamily="34" charset="-122"/>
                <a:cs typeface="Barlow" pitchFamily="34" charset="-120"/>
              </a:rPr>
              <a:t>Dominic Maina Gachau</a:t>
            </a:r>
            <a:endParaRPr lang="en-US" sz="3200" dirty="0"/>
          </a:p>
        </p:txBody>
      </p:sp>
      <p:sp>
        <p:nvSpPr>
          <p:cNvPr id="6" name="Text 4"/>
          <p:cNvSpPr/>
          <p:nvPr/>
        </p:nvSpPr>
        <p:spPr>
          <a:xfrm>
            <a:off x="2692400" y="2548830"/>
            <a:ext cx="4131961" cy="368300"/>
          </a:xfrm>
          <a:prstGeom prst="rect">
            <a:avLst/>
          </a:prstGeom>
          <a:noFill/>
          <a:ln/>
        </p:spPr>
        <p:txBody>
          <a:bodyPr wrap="square" lIns="0" tIns="0" rIns="0" bIns="0" rtlCol="0" anchor="t">
            <a:normAutofit/>
          </a:bodyPr>
          <a:lstStyle/>
          <a:p>
            <a:pPr algn="l" indent="0" marL="0">
              <a:lnSpc>
                <a:spcPts val="2700"/>
              </a:lnSpc>
              <a:buNone/>
            </a:pPr>
            <a:r>
              <a:rPr lang="en-US" sz="2000" dirty="0">
                <a:solidFill>
                  <a:srgbClr val="1B1B1F"/>
                </a:solidFill>
                <a:latin typeface="Barlow" pitchFamily="34" charset="0"/>
                <a:ea typeface="Barlow" pitchFamily="34" charset="-122"/>
                <a:cs typeface="Barlow" pitchFamily="34" charset="-120"/>
              </a:rPr>
              <a:t>Founder and developer</a:t>
            </a:r>
            <a:endParaRPr lang="en-US" sz="2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7F87"/>
        </a:solidFill>
      </p:bgPr>
    </p:bg>
    <p:spTree>
      <p:nvGrpSpPr>
        <p:cNvPr id="1" name=""/>
        <p:cNvGrpSpPr/>
        <p:nvPr/>
      </p:nvGrpSpPr>
      <p:grpSpPr>
        <a:xfrm>
          <a:off x="0" y="0"/>
          <a:ext cx="0" cy="0"/>
          <a:chOff x="0" y="0"/>
          <a:chExt cx="0" cy="0"/>
        </a:xfrm>
      </p:grpSpPr>
      <p:sp>
        <p:nvSpPr>
          <p:cNvPr id="2" name="Shape 0"/>
          <p:cNvSpPr/>
          <p:nvPr/>
        </p:nvSpPr>
        <p:spPr>
          <a:xfrm>
            <a:off x="0" y="0"/>
            <a:ext cx="254000" cy="6858000"/>
          </a:xfrm>
          <a:prstGeom prst="rect">
            <a:avLst/>
          </a:prstGeom>
          <a:solidFill>
            <a:srgbClr val="8D103D"/>
          </a:solidFill>
          <a:ln/>
        </p:spPr>
      </p:sp>
      <p:sp>
        <p:nvSpPr>
          <p:cNvPr id="3" name="Text 1"/>
          <p:cNvSpPr/>
          <p:nvPr>
            <p:ph type="title"/>
          </p:nvPr>
        </p:nvSpPr>
        <p:spPr>
          <a:xfrm>
            <a:off x="812800" y="812800"/>
            <a:ext cx="10883392" cy="1198860"/>
          </a:xfrm>
          <a:prstGeom prst="rect">
            <a:avLst/>
          </a:prstGeom>
          <a:noFill/>
          <a:ln/>
        </p:spPr>
        <p:txBody>
          <a:bodyPr wrap="square" lIns="0" tIns="0" rIns="0" bIns="0" rtlCol="0" anchor="t">
            <a:normAutofit/>
          </a:bodyPr>
          <a:lstStyle/>
          <a:p>
            <a:pPr algn="l" indent="0" marL="0">
              <a:lnSpc>
                <a:spcPts val="9240"/>
              </a:lnSpc>
              <a:buNone/>
            </a:pPr>
            <a:r>
              <a:rPr lang="en-US" sz="8800" b="1" i="0" dirty="0">
                <a:solidFill>
                  <a:srgbClr val="FFFFFF"/>
                </a:solidFill>
                <a:latin typeface="Barlow" pitchFamily="34" charset="0"/>
                <a:ea typeface="Barlow" pitchFamily="34" charset="-122"/>
                <a:cs typeface="Barlow" pitchFamily="34" charset="-120"/>
              </a:rPr>
              <a:t>Thank you</a:t>
            </a:r>
            <a:endParaRPr lang="en-US" sz="8800" dirty="0"/>
          </a:p>
        </p:txBody>
      </p:sp>
      <p:sp>
        <p:nvSpPr>
          <p:cNvPr id="4" name="Text 2"/>
          <p:cNvSpPr/>
          <p:nvPr/>
        </p:nvSpPr>
        <p:spPr>
          <a:xfrm>
            <a:off x="812800" y="2291060"/>
            <a:ext cx="10883392" cy="452041"/>
          </a:xfrm>
          <a:prstGeom prst="rect">
            <a:avLst/>
          </a:prstGeom>
          <a:noFill/>
          <a:ln/>
        </p:spPr>
        <p:txBody>
          <a:bodyPr wrap="square" lIns="0" tIns="0" rIns="0" bIns="0" rtlCol="0" anchor="t">
            <a:normAutofit/>
          </a:bodyPr>
          <a:lstStyle/>
          <a:p>
            <a:pPr algn="l" indent="0" marL="0">
              <a:lnSpc>
                <a:spcPts val="3360"/>
              </a:lnSpc>
              <a:buNone/>
            </a:pPr>
            <a:r>
              <a:rPr lang="en-US" sz="2400" dirty="0">
                <a:solidFill>
                  <a:srgbClr val="FFFFFF"/>
                </a:solidFill>
                <a:latin typeface="Barlow" pitchFamily="34" charset="0"/>
                <a:ea typeface="Barlow" pitchFamily="34" charset="-122"/>
                <a:cs typeface="Barlow" pitchFamily="34" charset="-120"/>
              </a:rPr>
              <a:t>AZ-900 Academy, by Dominic Maina Gachau, Kenya</a:t>
            </a:r>
            <a:endParaRPr lang="en-US" sz="2400" dirty="0"/>
          </a:p>
        </p:txBody>
      </p:sp>
      <p:sp>
        <p:nvSpPr>
          <p:cNvPr id="5" name="Text 3"/>
          <p:cNvSpPr/>
          <p:nvPr/>
        </p:nvSpPr>
        <p:spPr>
          <a:xfrm>
            <a:off x="812800" y="3022501"/>
            <a:ext cx="10883392" cy="34538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FFFFFF"/>
                </a:solidFill>
                <a:latin typeface="Barlow" pitchFamily="34" charset="0"/>
                <a:ea typeface="Barlow" pitchFamily="34" charset="-122"/>
                <a:cs typeface="Barlow" pitchFamily="34" charset="-120"/>
              </a:rPr>
              <a:t>Questions and feedback are welcome.</a:t>
            </a:r>
            <a:endParaRPr lang="en-US" sz="1800" dirty="0"/>
          </a:p>
        </p:txBody>
      </p:sp>
    </p:spTree>
  </p:cSld>
  <p:clrMapOvr>
    <a:masterClrMapping/>
  </p:clrMapOvr>
</p:sld>
</file>

<file path=ppt/theme/theme1.xml><?xml version="1.0" encoding="utf-8"?>
<a:theme xmlns:a="http://schemas.openxmlformats.org/drawingml/2006/main" name="AZ-900 Academy: pitch deck">
  <a:themeElements>
    <a:clrScheme name="AZ-900 Academy: pitch deck">
      <a:dk1>
        <a:srgbClr val="1B1B1F"/>
      </a:dk1>
      <a:lt1>
        <a:srgbClr val="FBF7F9"/>
      </a:lt1>
      <a:dk2>
        <a:srgbClr val="535256"/>
      </a:dk2>
      <a:lt2>
        <a:srgbClr val="E5E1E3"/>
      </a:lt2>
      <a:accent1>
        <a:srgbClr val="8D103D"/>
      </a:accent1>
      <a:accent2>
        <a:srgbClr val="0A7F87"/>
      </a:accent2>
      <a:accent3>
        <a:srgbClr val="4D4D57"/>
      </a:accent3>
      <a:accent4>
        <a:srgbClr val="4A3B57"/>
      </a:accent4>
      <a:accent5>
        <a:srgbClr val="9AA0A6"/>
      </a:accent5>
      <a:accent6>
        <a:srgbClr val="757376"/>
      </a:accent6>
      <a:hlink>
        <a:srgbClr val="0563C1"/>
      </a:hlink>
      <a:folHlink>
        <a:srgbClr val="954F72"/>
      </a:folHlink>
    </a:clrScheme>
    <a:fontScheme name="AZ-900 Academy: pitch deck">
      <a:majorFont>
        <a:latin typeface="Barlow"/>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Barlow"/>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AZ-900 Academy: pitch deck</dc:title>
  <dc:subject/>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Barlow
Copyright 2017 The Barlow Project Authors (https://github.com/jpt/barlow)
This Font Software is licensed under the SIL Open Font License, Version 1.1.
This license is copied below, and is also available with a FAQ at:
http://scripts.sil.org/OFL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dc:creator/>
  <cp:lastModifiedBy/>
  <cp:revision>1</cp:revision>
  <dcterms:created xsi:type="dcterms:W3CDTF">2026-10-22T20:52:25Z</dcterms:created>
  <dcterms:modified xsi:type="dcterms:W3CDTF">2026-10-22T20:52:25Z</dcterms:modified>
</cp:coreProperties>
</file>